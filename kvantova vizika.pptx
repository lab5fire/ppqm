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8" d="100"/>
          <a:sy n="78" d="100"/>
        </p:scale>
        <p:origin x="850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56238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Иванов</a:t>
            </a:r>
          </a:p>
        </p:txBody>
      </p:sp>
      <p:pic>
        <p:nvPicPr>
          <p:cNvPr id="1026" name="Picture 2" descr="Cristiano Ronaldo Drinking GIF - Cristiano Ronaldo Drinking Wink - Discover  &amp; Share GIFs">
            <a:extLst>
              <a:ext uri="{FF2B5EF4-FFF2-40B4-BE49-F238E27FC236}">
                <a16:creationId xmlns:a16="http://schemas.microsoft.com/office/drawing/2014/main" id="{E69AE2B2-969C-5419-A351-E8F335E30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416" y="5002823"/>
            <a:ext cx="1679584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E954EF-7065-4FA5-A9E3-37E4BCE8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Квантуване на енергията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0C73B-CDCC-C8A7-0346-F063431A7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Макс Планк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1900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72248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89B0-5DBC-6758-A359-1DBDA595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73514"/>
            <a:ext cx="5181600" cy="5710971"/>
          </a:xfrm>
        </p:spPr>
        <p:txBody>
          <a:bodyPr>
            <a:normAutofit fontScale="92500" lnSpcReduction="10000"/>
          </a:bodyPr>
          <a:lstStyle/>
          <a:p>
            <a:r>
              <a:rPr lang="ru-RU" sz="2400" b="1" dirty="0"/>
              <a:t>Теория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Планк открива, че енергията </a:t>
            </a:r>
            <a:r>
              <a:rPr lang="ru-RU" sz="2400" b="1" dirty="0"/>
              <a:t>не се излъчва и поглъща непрекъснато</a:t>
            </a:r>
            <a:r>
              <a:rPr lang="ru-RU" sz="2400" dirty="0"/>
              <a:t>, а на </a:t>
            </a:r>
            <a:r>
              <a:rPr lang="ru-RU" sz="2400" b="1" dirty="0"/>
              <a:t>малки порции</a:t>
            </a:r>
            <a:r>
              <a:rPr lang="ru-RU" sz="2400" dirty="0"/>
              <a:t>, наречени </a:t>
            </a:r>
            <a:r>
              <a:rPr lang="ru-RU" sz="2400" b="1" dirty="0"/>
              <a:t>кванти</a:t>
            </a:r>
            <a:r>
              <a:rPr lang="ru-RU" sz="2400" dirty="0"/>
              <a:t>. Това е коренно различно от класическата физика, която приема, че енергията може да има всякакви стойности.</a:t>
            </a:r>
          </a:p>
          <a:p>
            <a:r>
              <a:rPr lang="ru-RU" sz="2400" dirty="0"/>
              <a:t>Той въвежда формулата:</a:t>
            </a:r>
            <a:br>
              <a:rPr lang="ru-RU" sz="2400" dirty="0"/>
            </a:br>
            <a:r>
              <a:rPr lang="ru-RU" sz="2400" b="1" dirty="0"/>
              <a:t>E = h · f</a:t>
            </a:r>
            <a:r>
              <a:rPr lang="ru-RU" sz="2400" dirty="0"/>
              <a:t>,</a:t>
            </a:r>
            <a:br>
              <a:rPr lang="ru-RU" sz="2400" dirty="0"/>
            </a:br>
            <a:r>
              <a:rPr lang="ru-RU" sz="2400" dirty="0"/>
              <a:t>където </a:t>
            </a:r>
            <a:r>
              <a:rPr lang="ru-RU" sz="2400" i="1" dirty="0"/>
              <a:t>h</a:t>
            </a:r>
            <a:r>
              <a:rPr lang="ru-RU" sz="2400" dirty="0"/>
              <a:t> е константата на Планк, а </a:t>
            </a:r>
            <a:r>
              <a:rPr lang="ru-RU" sz="2400" i="1" dirty="0"/>
              <a:t>f</a:t>
            </a:r>
            <a:r>
              <a:rPr lang="ru-RU" sz="2400" dirty="0"/>
              <a:t> – честотата.</a:t>
            </a:r>
          </a:p>
          <a:p>
            <a:r>
              <a:rPr lang="ru-RU" sz="2400" b="1" dirty="0"/>
              <a:t>Пример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Представи си стълбище. Можеш да стъпиш </a:t>
            </a:r>
            <a:r>
              <a:rPr lang="ru-RU" sz="2400" b="1" dirty="0"/>
              <a:t>само на стъпалата</a:t>
            </a:r>
            <a:r>
              <a:rPr lang="ru-RU" sz="2400" dirty="0"/>
              <a:t>, а не между тях.</a:t>
            </a:r>
            <a:br>
              <a:rPr lang="ru-RU" sz="2400" dirty="0"/>
            </a:br>
            <a:r>
              <a:rPr lang="ru-RU" sz="2400" dirty="0"/>
              <a:t>По същия начин електронът може да има </a:t>
            </a:r>
            <a:r>
              <a:rPr lang="ru-RU" sz="2400" b="1" dirty="0"/>
              <a:t>само определени енергийни нива</a:t>
            </a:r>
            <a:r>
              <a:rPr lang="ru-RU" sz="2400" dirty="0"/>
              <a:t>, а не произволни.</a:t>
            </a:r>
          </a:p>
          <a:p>
            <a:pPr marL="0" indent="0">
              <a:buNone/>
            </a:pPr>
            <a:endParaRPr lang="bg-BG" sz="2400" dirty="0"/>
          </a:p>
        </p:txBody>
      </p:sp>
      <p:pic>
        <p:nvPicPr>
          <p:cNvPr id="1026" name="Picture 2" descr="На тази дата Нилс Бор завършва статията си, която полага началото на  квантовата теория | Физика">
            <a:extLst>
              <a:ext uri="{FF2B5EF4-FFF2-40B4-BE49-F238E27FC236}">
                <a16:creationId xmlns:a16="http://schemas.microsoft.com/office/drawing/2014/main" id="{D8DD4041-EB15-985B-7DCF-F169787F11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3" y="1579317"/>
            <a:ext cx="5802923" cy="369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77057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A977-7A78-7A44-95EB-1A2200F38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2. Фотоелектричен ефект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92E58-5435-3189-8A0E-71EFE7619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Алберт Айнщайн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1905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0004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E4720-B159-4A93-1543-C7B9F4E4F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Айнщайн доказва, че светлината се държи като поток от частици – </a:t>
            </a:r>
            <a:r>
              <a:rPr lang="ru-RU" b="1" dirty="0"/>
              <a:t>фотони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Когато светлина с достатъчно висока честота падне върху метал, тя може да </a:t>
            </a:r>
            <a:r>
              <a:rPr lang="ru-RU" b="1" dirty="0"/>
              <a:t>избие електрони</a:t>
            </a:r>
            <a:r>
              <a:rPr lang="ru-RU" dirty="0"/>
              <a:t> от него.</a:t>
            </a:r>
          </a:p>
          <a:p>
            <a:r>
              <a:rPr lang="ru-RU" dirty="0"/>
              <a:t>Важно е, че не силата (яркостта), а </a:t>
            </a:r>
            <a:r>
              <a:rPr lang="ru-RU" b="1" dirty="0"/>
              <a:t>честотата</a:t>
            </a:r>
            <a:r>
              <a:rPr lang="ru-RU" dirty="0"/>
              <a:t> на светлината определя дали ще се отделят електрони.</a:t>
            </a:r>
          </a:p>
          <a:p>
            <a:r>
              <a:rPr lang="ru-RU" b="1" dirty="0"/>
              <a:t>Пример</a:t>
            </a:r>
          </a:p>
          <a:p>
            <a:pPr marL="0" indent="0">
              <a:buNone/>
            </a:pPr>
            <a:r>
              <a:rPr lang="ru-RU" dirty="0"/>
              <a:t>Слаба </a:t>
            </a:r>
            <a:r>
              <a:rPr lang="ru-RU" b="1" dirty="0"/>
              <a:t>ултравиолетова светлина</a:t>
            </a:r>
            <a:r>
              <a:rPr lang="ru-RU" dirty="0"/>
              <a:t> може да избие електрон,</a:t>
            </a:r>
            <a:br>
              <a:rPr lang="ru-RU" dirty="0"/>
            </a:br>
            <a:r>
              <a:rPr lang="ru-RU" dirty="0"/>
              <a:t>но много силна </a:t>
            </a:r>
            <a:r>
              <a:rPr lang="ru-RU" b="1" dirty="0"/>
              <a:t>червена светлина</a:t>
            </a:r>
            <a:r>
              <a:rPr lang="ru-RU" dirty="0"/>
              <a:t> – не може.</a:t>
            </a:r>
          </a:p>
          <a:p>
            <a:endParaRPr lang="bg-BG" dirty="0"/>
          </a:p>
        </p:txBody>
      </p:sp>
      <p:pic>
        <p:nvPicPr>
          <p:cNvPr id="2050" name="Picture 2" descr="Фотоелектричен ефект | physicstime.com">
            <a:extLst>
              <a:ext uri="{FF2B5EF4-FFF2-40B4-BE49-F238E27FC236}">
                <a16:creationId xmlns:a16="http://schemas.microsoft.com/office/drawing/2014/main" id="{E1212FA1-830C-FF50-4272-1E642FAB67B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6990" y="1872945"/>
            <a:ext cx="4329136" cy="311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139900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FF02-E56F-78D3-89E9-FD6E9667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3. Вълново-частичен дуализъм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B35BF-ADC5-AEB8-E910-FCDC81FC8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Луи дьо Бройл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1924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363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61C5A-9A95-939A-E8AC-78F55B4A4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Дьо Бройл предлага, че </a:t>
            </a:r>
            <a:r>
              <a:rPr lang="ru-RU" b="1" dirty="0"/>
              <a:t>всяка частица</a:t>
            </a:r>
            <a:r>
              <a:rPr lang="ru-RU" dirty="0"/>
              <a:t> (електрон, протон) има и </a:t>
            </a:r>
            <a:r>
              <a:rPr lang="ru-RU" b="1" dirty="0"/>
              <a:t>вълнови свойства</a:t>
            </a:r>
            <a:r>
              <a:rPr lang="ru-RU" dirty="0"/>
              <a:t>, а не само маса и скорост.</a:t>
            </a:r>
            <a:br>
              <a:rPr lang="ru-RU" dirty="0"/>
            </a:br>
            <a:r>
              <a:rPr lang="ru-RU" dirty="0"/>
              <a:t>Това означава, че материята може да се държи </a:t>
            </a:r>
            <a:r>
              <a:rPr lang="ru-RU" b="1" dirty="0"/>
              <a:t>едновременно като частица и като вълна</a:t>
            </a:r>
            <a:r>
              <a:rPr lang="ru-RU" dirty="0"/>
              <a:t>.</a:t>
            </a:r>
          </a:p>
          <a:p>
            <a:r>
              <a:rPr lang="ru-RU" b="1" dirty="0"/>
              <a:t>Пример</a:t>
            </a:r>
          </a:p>
          <a:p>
            <a:r>
              <a:rPr lang="ru-RU" dirty="0"/>
              <a:t>Електрон: се засича като </a:t>
            </a:r>
            <a:r>
              <a:rPr lang="ru-RU" b="1" dirty="0"/>
              <a:t>точка</a:t>
            </a:r>
            <a:r>
              <a:rPr lang="ru-RU" dirty="0"/>
              <a:t> (частица), но създава </a:t>
            </a:r>
            <a:r>
              <a:rPr lang="ru-RU" b="1" dirty="0"/>
              <a:t>интерференчна картина</a:t>
            </a:r>
            <a:r>
              <a:rPr lang="ru-RU" dirty="0"/>
              <a:t> като вълна.</a:t>
            </a:r>
          </a:p>
        </p:txBody>
      </p:sp>
      <p:pic>
        <p:nvPicPr>
          <p:cNvPr id="3074" name="Picture 2" descr="Дуализъм">
            <a:extLst>
              <a:ext uri="{FF2B5EF4-FFF2-40B4-BE49-F238E27FC236}">
                <a16:creationId xmlns:a16="http://schemas.microsoft.com/office/drawing/2014/main" id="{1D608B49-6871-4513-19F0-0B5C2AD519C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7179" y="2195146"/>
            <a:ext cx="51816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26670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EE0FB-D125-BCFF-6C90-3AE1B3280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4. Принцип на неопределеността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0E4A1C-114F-0AAE-3B50-CC1E21603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Вернер Хайзенберг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1927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29449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1D5C1-4AC8-2066-CD39-0C07ABFAD5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Невъзможно е едновременно да се знаят точната позиция и точната скорост на една квантова частица.</a:t>
            </a:r>
          </a:p>
          <a:p>
            <a:r>
              <a:rPr lang="ru-RU" dirty="0"/>
              <a:t>Колкото по-точно знаем едното, толкова по-неточно знаем другото.</a:t>
            </a:r>
          </a:p>
          <a:p>
            <a:endParaRPr lang="ru-RU" dirty="0"/>
          </a:p>
          <a:p>
            <a:r>
              <a:rPr lang="ru-RU" dirty="0"/>
              <a:t>Това не е грешка на измерването, а фундаментално свойство на природата.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Все едно да се опитваш да видиш кола в пълна тъмнина, като я осветиш с фенер – самата светлина я избутва леко и променя движението ѝ.</a:t>
            </a:r>
          </a:p>
          <a:p>
            <a:endParaRPr lang="bg-BG" dirty="0"/>
          </a:p>
        </p:txBody>
      </p:sp>
      <p:pic>
        <p:nvPicPr>
          <p:cNvPr id="4098" name="Picture 2" descr="Вернер Хайзенберг и принципа на неопределеността | Teenproblem.net">
            <a:extLst>
              <a:ext uri="{FF2B5EF4-FFF2-40B4-BE49-F238E27FC236}">
                <a16:creationId xmlns:a16="http://schemas.microsoft.com/office/drawing/2014/main" id="{FFCDC42F-040B-3B3F-DF31-AE24EF1E25F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09542"/>
            <a:ext cx="5181600" cy="333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Принцип на неопределеността - Читател - живей в по-добрия свят!">
            <a:extLst>
              <a:ext uri="{FF2B5EF4-FFF2-40B4-BE49-F238E27FC236}">
                <a16:creationId xmlns:a16="http://schemas.microsoft.com/office/drawing/2014/main" id="{BF67B9AF-6208-F6BA-78D6-FCEA899A6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690958"/>
            <a:ext cx="51816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107644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D1CF3-C268-9311-4720-A0DD969D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5. Квантова суперпозиция</a:t>
            </a:r>
            <a:r>
              <a:rPr lang="ru-RU" dirty="0"/>
              <a:t> 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ED7C26-FA37-B71C-1329-63698DFAE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Ервин Шрьодингер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51297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CA98F-6F62-02FA-2E89-991AEE8E9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Квантовата частица може да съществува в няколко състояния едновременно, докато не бъде измерена.</a:t>
            </a:r>
          </a:p>
          <a:p>
            <a:r>
              <a:rPr lang="ru-RU" dirty="0"/>
              <a:t>Състоянието ѝ се описва с вълнова функция, която показва вероятности.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Електрон може да бъде:и тук, и там, едновременно, докато не го измерим.</a:t>
            </a:r>
          </a:p>
          <a:p>
            <a:endParaRPr lang="ru-RU" dirty="0"/>
          </a:p>
          <a:p>
            <a:r>
              <a:rPr lang="ru-RU" dirty="0"/>
              <a:t>Известен пример е мисловният експеримент с котката на Шрьодингер – жива и мъртва едновременно.</a:t>
            </a:r>
            <a:endParaRPr lang="bg-BG" dirty="0"/>
          </a:p>
        </p:txBody>
      </p:sp>
      <p:pic>
        <p:nvPicPr>
          <p:cNvPr id="5122" name="Picture 2" descr="Парадоксите на квантовата механика смущават съня на физиците | Мегавселена">
            <a:extLst>
              <a:ext uri="{FF2B5EF4-FFF2-40B4-BE49-F238E27FC236}">
                <a16:creationId xmlns:a16="http://schemas.microsoft.com/office/drawing/2014/main" id="{17FDDF77-6EB0-9534-252B-B28B4051368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52903"/>
            <a:ext cx="5181600" cy="2752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078100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44B29-8145-CCDC-44D3-36117082E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Колапс на вълновата функция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A180C-058D-4E7D-186A-F4B3C0492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Нилс Бор (Копенхагенска интерпретация)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около 1927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53571212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22B42-2D6F-F376-66FE-152B4391A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Когато извършим измерване, суперпозицията изчезва и частицата избира едно конкретно състояние.</a:t>
            </a:r>
          </a:p>
          <a:p>
            <a:r>
              <a:rPr lang="ru-RU" dirty="0"/>
              <a:t>Този процес се нарича колапс на вълновата функция.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pPr marL="0" indent="0">
              <a:buNone/>
            </a:pPr>
            <a:r>
              <a:rPr lang="ru-RU" dirty="0"/>
              <a:t>Преди измерване:</a:t>
            </a:r>
          </a:p>
          <a:p>
            <a:pPr marL="0" indent="0">
              <a:buNone/>
            </a:pPr>
            <a:r>
              <a:rPr lang="ru-RU" dirty="0"/>
              <a:t>електронът е на много възможни места.</a:t>
            </a:r>
          </a:p>
          <a:p>
            <a:pPr marL="0" indent="0">
              <a:buNone/>
            </a:pPr>
            <a:r>
              <a:rPr lang="ru-RU" dirty="0"/>
              <a:t>След измерване:</a:t>
            </a:r>
          </a:p>
          <a:p>
            <a:pPr marL="0" indent="0">
              <a:buNone/>
            </a:pPr>
            <a:r>
              <a:rPr lang="ru-RU" dirty="0"/>
              <a:t>намираме го на едно конкретно място.</a:t>
            </a:r>
            <a:endParaRPr lang="bg-BG" dirty="0"/>
          </a:p>
        </p:txBody>
      </p:sp>
      <p:pic>
        <p:nvPicPr>
          <p:cNvPr id="6146" name="Picture 2" descr="колапс на вълновата функция">
            <a:extLst>
              <a:ext uri="{FF2B5EF4-FFF2-40B4-BE49-F238E27FC236}">
                <a16:creationId xmlns:a16="http://schemas.microsoft.com/office/drawing/2014/main" id="{F814A5B1-E8E1-6006-04E2-265AB74CE1B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1830027"/>
            <a:ext cx="5181600" cy="3197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37512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26417-EE1B-9815-853C-77875B221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7. Квантово заплитане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302E61-6BE8-2FE5-C216-1FD0FA9F2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Учени: Айнщайн, Подолски и Розен (EPR), по-късно Джон Бел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1935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076063917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E4305-BC3A-393A-08EA-8689E970D7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частици могат да станат квантово свързани, така че състоянието на едната моментално определя състоянието на другата, независимо от разстоянието между тях.</a:t>
            </a:r>
            <a:r>
              <a:rPr lang="en-US" dirty="0"/>
              <a:t> </a:t>
            </a:r>
            <a:r>
              <a:rPr lang="ru-RU" dirty="0"/>
              <a:t>Айнщайн го нарича „призрачно действие от разстояние“.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заплетени частици:</a:t>
            </a:r>
          </a:p>
          <a:p>
            <a:r>
              <a:rPr lang="ru-RU" dirty="0"/>
              <a:t>измерваш първата → спин нагоре,</a:t>
            </a:r>
          </a:p>
          <a:p>
            <a:r>
              <a:rPr lang="ru-RU" dirty="0"/>
              <a:t>втората веднага става със спин надолу, дори да е на другия край на Вселената.</a:t>
            </a:r>
          </a:p>
        </p:txBody>
      </p:sp>
      <p:pic>
        <p:nvPicPr>
          <p:cNvPr id="1026" name="Picture 2" descr="Визуализация на квантовото заплитане в реално време с помощта на двуфотонна  холография - kaldata.com">
            <a:extLst>
              <a:ext uri="{FF2B5EF4-FFF2-40B4-BE49-F238E27FC236}">
                <a16:creationId xmlns:a16="http://schemas.microsoft.com/office/drawing/2014/main" id="{F3A24098-EE90-CD10-DC8F-E90AB03BB2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4651" y="1971675"/>
            <a:ext cx="5181600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704563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212C2-2B76-F096-E837-B3F56BFB8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8. Вероятностен характер на квантовата физика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17F52A-2D50-B486-F665-D3F0233FD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Макс Борн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6078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41784-029D-464A-6DEE-EBC28D18DB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Квантовата физика не предсказва точни резултати, а вероятности.</a:t>
            </a:r>
            <a:r>
              <a:rPr lang="en-US" dirty="0"/>
              <a:t> </a:t>
            </a:r>
            <a:r>
              <a:rPr lang="ru-RU" dirty="0"/>
              <a:t>Вълновата функция не казва къде точно е частицата, а с каква вероятност може да бъде намерена там.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Не можем да кажем:</a:t>
            </a:r>
          </a:p>
          <a:p>
            <a:pPr marL="0" indent="0">
              <a:buNone/>
            </a:pPr>
            <a:r>
              <a:rPr lang="ru-RU" dirty="0"/>
              <a:t>„Електронът е точно тук“</a:t>
            </a:r>
          </a:p>
          <a:p>
            <a:pPr marL="0" indent="0">
              <a:buNone/>
            </a:pPr>
            <a:r>
              <a:rPr lang="ru-RU" dirty="0"/>
              <a:t>Можем да кажем:</a:t>
            </a:r>
          </a:p>
          <a:p>
            <a:pPr marL="0" indent="0">
              <a:buNone/>
            </a:pPr>
            <a:r>
              <a:rPr lang="ru-RU" dirty="0"/>
              <a:t>„Има 80% шанс да е тук и 20% – там“</a:t>
            </a:r>
            <a:endParaRPr lang="bg-BG" dirty="0"/>
          </a:p>
        </p:txBody>
      </p:sp>
      <p:pic>
        <p:nvPicPr>
          <p:cNvPr id="2050" name="Picture 2" descr="Човешката душа е част от природата, макар и най-мистериозната – МАКС БОРН |  Четилище">
            <a:extLst>
              <a:ext uri="{FF2B5EF4-FFF2-40B4-BE49-F238E27FC236}">
                <a16:creationId xmlns:a16="http://schemas.microsoft.com/office/drawing/2014/main" id="{2103BFF2-C08F-6113-EAB8-BFF696D84C7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383" y="575150"/>
            <a:ext cx="4065827" cy="570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476771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77F69-4B25-D6F1-EA6E-21F36BD0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6187"/>
            <a:ext cx="10515600" cy="1325563"/>
          </a:xfrm>
        </p:spPr>
        <p:txBody>
          <a:bodyPr/>
          <a:lstStyle/>
          <a:p>
            <a:pPr algn="ctr"/>
            <a:r>
              <a:rPr lang="bg-BG" dirty="0"/>
              <a:t>Благодаря за отделеното време!</a:t>
            </a:r>
          </a:p>
        </p:txBody>
      </p:sp>
      <p:pic>
        <p:nvPicPr>
          <p:cNvPr id="3078" name="Picture 6" descr="Approved Meme GIFs | Tenor">
            <a:extLst>
              <a:ext uri="{FF2B5EF4-FFF2-40B4-BE49-F238E27FC236}">
                <a16:creationId xmlns:a16="http://schemas.microsoft.com/office/drawing/2014/main" id="{B7DEBB6A-2841-BAD9-64D7-8FD63852E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4286250"/>
            <a:ext cx="457200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63999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780</Words>
  <Application>Microsoft Office PowerPoint</Application>
  <PresentationFormat>Widescreen</PresentationFormat>
  <Paragraphs>90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1. Квантуване на енергията</vt:lpstr>
      <vt:lpstr>PowerPoint Presentation</vt:lpstr>
      <vt:lpstr>2. Фотоелектричен ефект</vt:lpstr>
      <vt:lpstr>PowerPoint Presentation</vt:lpstr>
      <vt:lpstr>3. Вълново-частичен дуализъм</vt:lpstr>
      <vt:lpstr>PowerPoint Presentation</vt:lpstr>
      <vt:lpstr>4. Принцип на неопределеността</vt:lpstr>
      <vt:lpstr>PowerPoint Presentation</vt:lpstr>
      <vt:lpstr>5. Квантова суперпозиция </vt:lpstr>
      <vt:lpstr>PowerPoint Presentation</vt:lpstr>
      <vt:lpstr>6. Колапс на вълновата функция</vt:lpstr>
      <vt:lpstr>PowerPoint Presentation</vt:lpstr>
      <vt:lpstr>7. Квантово заплитане</vt:lpstr>
      <vt:lpstr>PowerPoint Presentation</vt:lpstr>
      <vt:lpstr>8. Вероятностен характер на квантовата физика</vt:lpstr>
      <vt:lpstr>PowerPoint Presentation</vt:lpstr>
      <vt:lpstr>Благодаря за отделеното време!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17</cp:revision>
  <dcterms:created xsi:type="dcterms:W3CDTF">2026-01-20T14:26:01Z</dcterms:created>
  <dcterms:modified xsi:type="dcterms:W3CDTF">2026-01-21T14:56:41Z</dcterms:modified>
</cp:coreProperties>
</file>