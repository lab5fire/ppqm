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1" r:id="rId16"/>
  </p:sldIdLst>
  <p:sldSz cx="12192000" cy="6858000"/>
  <p:notesSz cx="6858000" cy="9144000"/>
  <p:defaultTextStyle>
    <a:defPPr>
      <a:defRPr lang="bg-BG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87" d="100"/>
          <a:sy n="87" d="100"/>
        </p:scale>
        <p:origin x="499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A308D8-64D7-2834-CA86-FBF0BDD167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bg-BG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0F33B34-16D5-CFFE-3393-9016DBA5377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bg-B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5739FBB-E0AA-ACA6-834E-DA3B6FAB14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F173BD-1082-4503-BC6F-F0C637969118}" type="datetimeFigureOut">
              <a:rPr lang="bg-BG" smtClean="0"/>
              <a:t>21.1.2026 г.</a:t>
            </a:fld>
            <a:endParaRPr lang="bg-B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C93E331-30BA-02B9-31E7-753AE839AF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B97B38A-EE22-9FD2-901C-C151B7A1C6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C2C2C7-A948-49AB-AD0D-83488FA7FE1C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205233218"/>
      </p:ext>
    </p:extLst>
  </p:cSld>
  <p:clrMapOvr>
    <a:masterClrMapping/>
  </p:clrMapOvr>
  <p:transition spd="slow">
    <p:push dir="u"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B61072-6D1C-7EDD-E5D0-64C0661986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bg-BG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D41636E-592D-3472-E3A9-B8E9A62640F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bg-B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BFE2DF-A3A1-31B0-0C17-F3F92336C5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F173BD-1082-4503-BC6F-F0C637969118}" type="datetimeFigureOut">
              <a:rPr lang="bg-BG" smtClean="0"/>
              <a:t>21.1.2026 г.</a:t>
            </a:fld>
            <a:endParaRPr lang="bg-B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3231A8C-8AFC-A5E5-D8BC-7DB25A55B2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5BA2C25-39EB-732B-4C54-FEB4253C9B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C2C2C7-A948-49AB-AD0D-83488FA7FE1C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038164879"/>
      </p:ext>
    </p:extLst>
  </p:cSld>
  <p:clrMapOvr>
    <a:masterClrMapping/>
  </p:clrMapOvr>
  <p:transition spd="slow">
    <p:push dir="u"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8B1328-CCD6-9AF6-9D2B-9A82D237ED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bg-BG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51FA226-87CB-EF20-675E-5842597E0A1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5A130B2-C287-6023-2C6D-8C2B08DDAC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F173BD-1082-4503-BC6F-F0C637969118}" type="datetimeFigureOut">
              <a:rPr lang="bg-BG" smtClean="0"/>
              <a:t>21.1.2026 г.</a:t>
            </a:fld>
            <a:endParaRPr lang="bg-B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2992F1B-40C4-1E63-5411-6607C3FA35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168A343-F501-42D9-0B17-3D7D2149D0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C2C2C7-A948-49AB-AD0D-83488FA7FE1C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773454567"/>
      </p:ext>
    </p:extLst>
  </p:cSld>
  <p:clrMapOvr>
    <a:masterClrMapping/>
  </p:clrMapOvr>
  <p:transition spd="slow">
    <p:push dir="u"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1E009C-5B2A-CACC-3E95-DC6ACD19D2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bg-BG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1CB8BF-E482-4CBB-C2B0-1C78B7E70B1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bg-BG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F96307B-6D0A-2B25-5F74-35EBCB58762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bg-BG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F8ADAC6-35C6-A7DE-2290-013CE53804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F173BD-1082-4503-BC6F-F0C637969118}" type="datetimeFigureOut">
              <a:rPr lang="bg-BG" smtClean="0"/>
              <a:t>21.1.2026 г.</a:t>
            </a:fld>
            <a:endParaRPr lang="bg-BG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702F72A-5BC9-F02A-15C1-9F7D5637FD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E69A3A0-28DD-3EED-B915-EC4657C174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C2C2C7-A948-49AB-AD0D-83488FA7FE1C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771067510"/>
      </p:ext>
    </p:extLst>
  </p:cSld>
  <p:clrMapOvr>
    <a:masterClrMapping/>
  </p:clrMapOvr>
  <p:transition spd="slow">
    <p:push dir="u"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3C213A-54D4-857E-044B-C837E2EA8A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bg-BG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ACA11FF-6AA2-EACB-221A-BA010B36D99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80823DF-A596-3CEB-A2D5-141942A855C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bg-BG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CB97B1C-B8AA-E8B1-70EA-F8F1F3BADA4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E23911F-D0ED-867B-8DB6-D6E3B74222E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bg-BG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F09E9B0-1084-5DA4-D0C1-26099115A7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F173BD-1082-4503-BC6F-F0C637969118}" type="datetimeFigureOut">
              <a:rPr lang="bg-BG" smtClean="0"/>
              <a:t>21.1.2026 г.</a:t>
            </a:fld>
            <a:endParaRPr lang="bg-BG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33C7EE0-21F8-436C-EA52-F399B7BE56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02A0DC9-DDBB-E9B6-4EF8-4A4581C715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C2C2C7-A948-49AB-AD0D-83488FA7FE1C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824740392"/>
      </p:ext>
    </p:extLst>
  </p:cSld>
  <p:clrMapOvr>
    <a:masterClrMapping/>
  </p:clrMapOvr>
  <p:transition spd="slow">
    <p:push dir="u"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428F86-BF9C-8FFA-9D1B-87444CF787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bg-BG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A93F796-A834-D4B7-82E0-7E93FD7E1E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F173BD-1082-4503-BC6F-F0C637969118}" type="datetimeFigureOut">
              <a:rPr lang="bg-BG" smtClean="0"/>
              <a:t>21.1.2026 г.</a:t>
            </a:fld>
            <a:endParaRPr lang="bg-BG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6B64FDE-2AA0-18F1-0A17-F81CE49821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0D021FE-900F-52F4-1A55-440AABF75B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C2C2C7-A948-49AB-AD0D-83488FA7FE1C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42077682"/>
      </p:ext>
    </p:extLst>
  </p:cSld>
  <p:clrMapOvr>
    <a:masterClrMapping/>
  </p:clrMapOvr>
  <p:transition spd="slow">
    <p:push dir="u"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49C0A3C-6A14-72EE-F5D3-D324BFA132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F173BD-1082-4503-BC6F-F0C637969118}" type="datetimeFigureOut">
              <a:rPr lang="bg-BG" smtClean="0"/>
              <a:t>21.1.2026 г.</a:t>
            </a:fld>
            <a:endParaRPr lang="bg-BG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8D979F3-2BD4-CF52-5096-5EDC61D254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BF1055-332E-E444-D973-CB62D649BB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C2C2C7-A948-49AB-AD0D-83488FA7FE1C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131563344"/>
      </p:ext>
    </p:extLst>
  </p:cSld>
  <p:clrMapOvr>
    <a:masterClrMapping/>
  </p:clrMapOvr>
  <p:transition spd="slow">
    <p:push dir="u"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ACE94E-1943-ABFC-54B4-7A7F002D82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bg-BG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E42509-0CBC-7301-0895-B781BF453D3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bg-BG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CD08DB9-C5DC-893E-2001-54D2D179D78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31D17F5-6148-EFEC-3CF8-F0E1D4B530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F173BD-1082-4503-BC6F-F0C637969118}" type="datetimeFigureOut">
              <a:rPr lang="bg-BG" smtClean="0"/>
              <a:t>21.1.2026 г.</a:t>
            </a:fld>
            <a:endParaRPr lang="bg-BG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068C003-38D9-BDDC-8D46-063AB21723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64B30B5-16FC-66AB-7742-EE737C9C0E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C2C2C7-A948-49AB-AD0D-83488FA7FE1C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692090108"/>
      </p:ext>
    </p:extLst>
  </p:cSld>
  <p:clrMapOvr>
    <a:masterClrMapping/>
  </p:clrMapOvr>
  <p:transition spd="slow">
    <p:push dir="u"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FE90A9-FC5E-0E74-CABB-ACD446927D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bg-BG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6CCF36A-21A3-4F83-32BE-CE47129816B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bg-BG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1C21170-FE3F-6444-1604-DB627DC337C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C4A7C5A-714E-7749-05BB-8D50722C23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F173BD-1082-4503-BC6F-F0C637969118}" type="datetimeFigureOut">
              <a:rPr lang="bg-BG" smtClean="0"/>
              <a:t>21.1.2026 г.</a:t>
            </a:fld>
            <a:endParaRPr lang="bg-BG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19D4444-1EC2-8470-8F3B-536685984C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A0646EF-96A4-B6C5-B686-D580F45270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C2C2C7-A948-49AB-AD0D-83488FA7FE1C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414840093"/>
      </p:ext>
    </p:extLst>
  </p:cSld>
  <p:clrMapOvr>
    <a:masterClrMapping/>
  </p:clrMapOvr>
  <p:transition spd="slow">
    <p:push dir="u"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AEDC67-3550-ECFB-4BB9-3C92968514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bg-BG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4391FD7-3EA4-3957-4F6D-3B636691DB8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bg-B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C0856EA-56B7-4D0D-61E8-BB1BDF7404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F173BD-1082-4503-BC6F-F0C637969118}" type="datetimeFigureOut">
              <a:rPr lang="bg-BG" smtClean="0"/>
              <a:t>21.1.2026 г.</a:t>
            </a:fld>
            <a:endParaRPr lang="bg-B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727C474-76C0-8842-5A9C-C95D9AF6B2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01CF91-4DBC-D5B8-6B3A-80F83E49BF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C2C2C7-A948-49AB-AD0D-83488FA7FE1C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890822127"/>
      </p:ext>
    </p:extLst>
  </p:cSld>
  <p:clrMapOvr>
    <a:masterClrMapping/>
  </p:clrMapOvr>
  <p:transition spd="slow">
    <p:push dir="u"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5FA67E8-81CE-27F1-89A8-9E7C0153565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bg-BG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2B96B2A-AE41-326B-874C-9D680EEC0A3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bg-B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DB1FF2E-7934-F32B-51C2-0C942B2699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F173BD-1082-4503-BC6F-F0C637969118}" type="datetimeFigureOut">
              <a:rPr lang="bg-BG" smtClean="0"/>
              <a:t>21.1.2026 г.</a:t>
            </a:fld>
            <a:endParaRPr lang="bg-B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94E1EB2-0952-F201-4A2A-B87152513E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CF4233B-C016-E43B-2C3F-8EF8DC5F35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C2C2C7-A948-49AB-AD0D-83488FA7FE1C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867147561"/>
      </p:ext>
    </p:extLst>
  </p:cSld>
  <p:clrMapOvr>
    <a:masterClrMapping/>
  </p:clrMapOvr>
  <p:transition spd="slow">
    <p:push dir="u"/>
  </p:transition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1C33BD2-1171-4085-E8C5-97DF73F640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bg-BG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4DD6180-3716-7467-983C-949D9AE9E02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bg-B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B211A04-7516-6A23-C76F-EF41A49D442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7F173BD-1082-4503-BC6F-F0C637969118}" type="datetimeFigureOut">
              <a:rPr lang="bg-BG" smtClean="0"/>
              <a:t>21.1.2026 г.</a:t>
            </a:fld>
            <a:endParaRPr lang="bg-B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8B8DA47-6D29-BFE7-50C8-19414000A4D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bg-B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4E66CE-7132-B90E-572B-BC7465A8534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1C2C2C7-A948-49AB-AD0D-83488FA7FE1C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2969914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ransition spd="slow">
    <p:push dir="u"/>
  </p:transition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bg-BG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gif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BFF9201A-E3A2-A352-82D0-274E5675057A}"/>
              </a:ext>
            </a:extLst>
          </p:cNvPr>
          <p:cNvSpPr/>
          <p:nvPr/>
        </p:nvSpPr>
        <p:spPr>
          <a:xfrm>
            <a:off x="1406769" y="1556238"/>
            <a:ext cx="9144000" cy="30861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bg-BG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410C5D1-1831-A2D2-3BE1-1878A1DBEE4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bg-BG" dirty="0"/>
              <a:t>Основни принципи на</a:t>
            </a:r>
            <a:br>
              <a:rPr lang="bg-BG" dirty="0"/>
            </a:br>
            <a:r>
              <a:rPr lang="bg-BG" dirty="0"/>
              <a:t>квантовата физика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A798665-A47C-93E8-DDD4-9DFE40CAB57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bg-BG" dirty="0"/>
              <a:t>Проект направен от Мартин Велев и Никола Иванов</a:t>
            </a:r>
          </a:p>
        </p:txBody>
      </p:sp>
      <p:pic>
        <p:nvPicPr>
          <p:cNvPr id="1026" name="Picture 2" descr="Cristiano Ronaldo Drinking GIF - Cristiano Ronaldo Drinking Wink - Discover  &amp; Share GIFs">
            <a:extLst>
              <a:ext uri="{FF2B5EF4-FFF2-40B4-BE49-F238E27FC236}">
                <a16:creationId xmlns:a16="http://schemas.microsoft.com/office/drawing/2014/main" id="{E69AE2B2-969C-5419-A351-E8F335E305C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12416" y="5002823"/>
            <a:ext cx="1679584" cy="18551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31534593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4FCC84E5-0F15-3C2B-7649-E86FD83CC017}"/>
              </a:ext>
            </a:extLst>
          </p:cNvPr>
          <p:cNvSpPr/>
          <p:nvPr/>
        </p:nvSpPr>
        <p:spPr>
          <a:xfrm>
            <a:off x="291830" y="184826"/>
            <a:ext cx="11439728" cy="616473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bg-BG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B324CF3-5ED9-3030-5FF5-EC51D48466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Какво е квантовата физика?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70D726-AA71-58E0-CA0F-1639E89296B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Квaнтовaта физика е клон на науката. Тя изучава много малки частици. Такива частици са атоми и фотони. Те се държат по необичайни начини.Квантовата физика се нарича още квантова механика. </a:t>
            </a:r>
          </a:p>
          <a:p>
            <a:r>
              <a:rPr lang="ru-RU" dirty="0"/>
              <a:t>Тя обяснява как работят най-малките части на Вселената. Всичко около нас е изградено от протони, неутрони и електрони.В квантовата физика частиците могат да се държат като частици и като вълни. Светлината е пример за това. Това се нарича вълново-частичен дуализъм.</a:t>
            </a:r>
            <a:endParaRPr lang="bg-BG" dirty="0"/>
          </a:p>
        </p:txBody>
      </p:sp>
    </p:spTree>
    <p:extLst>
      <p:ext uri="{BB962C8B-B14F-4D97-AF65-F5344CB8AC3E}">
        <p14:creationId xmlns:p14="http://schemas.microsoft.com/office/powerpoint/2010/main" val="3395092815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60000"/>
            <a:lumOff val="4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58C6D20-5AC7-2572-0381-A2A2B29CC6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bg-BG" dirty="0"/>
              <a:t>Принципи на квантовата физика</a:t>
            </a:r>
          </a:p>
        </p:txBody>
      </p:sp>
      <p:sp>
        <p:nvSpPr>
          <p:cNvPr id="5" name="Arrow: Down 4">
            <a:extLst>
              <a:ext uri="{FF2B5EF4-FFF2-40B4-BE49-F238E27FC236}">
                <a16:creationId xmlns:a16="http://schemas.microsoft.com/office/drawing/2014/main" id="{4E0DB2C8-3DE1-F812-DBE5-799AF0EABC60}"/>
              </a:ext>
            </a:extLst>
          </p:cNvPr>
          <p:cNvSpPr/>
          <p:nvPr/>
        </p:nvSpPr>
        <p:spPr>
          <a:xfrm>
            <a:off x="5235102" y="1838528"/>
            <a:ext cx="1721796" cy="4124527"/>
          </a:xfrm>
          <a:prstGeom prst="downArrow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821443882"/>
      </p:ext>
    </p:extLst>
  </p:cSld>
  <p:clrMapOvr>
    <a:masterClrMapping/>
  </p:clrMapOvr>
  <p:transition spd="slow">
    <p:push dir="u"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52E954EF-7065-4FA5-A9E3-37E4BCE803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1. Квантуване на енергията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CDD0C73B-CDCC-C8A7-0346-F063431A786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b="1" dirty="0">
                <a:solidFill>
                  <a:schemeClr val="tx1"/>
                </a:solidFill>
              </a:rPr>
              <a:t>Учен:</a:t>
            </a:r>
            <a:r>
              <a:rPr lang="ru-RU" dirty="0">
                <a:solidFill>
                  <a:schemeClr val="tx1"/>
                </a:solidFill>
              </a:rPr>
              <a:t> Макс Планк</a:t>
            </a:r>
            <a:br>
              <a:rPr lang="ru-RU" dirty="0">
                <a:solidFill>
                  <a:schemeClr val="tx1"/>
                </a:solidFill>
              </a:rPr>
            </a:br>
            <a:r>
              <a:rPr lang="ru-RU" b="1" dirty="0">
                <a:solidFill>
                  <a:schemeClr val="tx1"/>
                </a:solidFill>
              </a:rPr>
              <a:t>Година:</a:t>
            </a:r>
            <a:r>
              <a:rPr lang="ru-RU" dirty="0">
                <a:solidFill>
                  <a:schemeClr val="tx1"/>
                </a:solidFill>
              </a:rPr>
              <a:t> 1900 г.</a:t>
            </a:r>
            <a:endParaRPr lang="bg-BG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71722488"/>
      </p:ext>
    </p:extLst>
  </p:cSld>
  <p:clrMapOvr>
    <a:masterClrMapping/>
  </p:clrMapOvr>
  <p:transition spd="slow">
    <p:push dir="u"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0F89B0-5DBC-6758-A359-1DBDA595129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9" y="573514"/>
            <a:ext cx="5181600" cy="5710971"/>
          </a:xfrm>
        </p:spPr>
        <p:txBody>
          <a:bodyPr>
            <a:normAutofit fontScale="92500" lnSpcReduction="10000"/>
          </a:bodyPr>
          <a:lstStyle/>
          <a:p>
            <a:r>
              <a:rPr lang="ru-RU" sz="2400" b="1" dirty="0"/>
              <a:t>Теория</a:t>
            </a:r>
            <a:r>
              <a:rPr lang="en-US" sz="2400" b="1" dirty="0"/>
              <a:t>:</a:t>
            </a:r>
            <a:endParaRPr lang="ru-RU" sz="2400" b="1" dirty="0"/>
          </a:p>
          <a:p>
            <a:pPr marL="0" indent="0">
              <a:buNone/>
            </a:pPr>
            <a:r>
              <a:rPr lang="ru-RU" sz="2400" dirty="0"/>
              <a:t>Планк открива, че енергията </a:t>
            </a:r>
            <a:r>
              <a:rPr lang="ru-RU" sz="2400" b="1" dirty="0"/>
              <a:t>не се излъчва и поглъща непрекъснато</a:t>
            </a:r>
            <a:r>
              <a:rPr lang="ru-RU" sz="2400" dirty="0"/>
              <a:t>, а на </a:t>
            </a:r>
            <a:r>
              <a:rPr lang="ru-RU" sz="2400" b="1" dirty="0"/>
              <a:t>малки порции</a:t>
            </a:r>
            <a:r>
              <a:rPr lang="ru-RU" sz="2400" dirty="0"/>
              <a:t>, наречени </a:t>
            </a:r>
            <a:r>
              <a:rPr lang="ru-RU" sz="2400" b="1" dirty="0"/>
              <a:t>кванти</a:t>
            </a:r>
            <a:r>
              <a:rPr lang="ru-RU" sz="2400" dirty="0"/>
              <a:t>. Това е коренно различно от класическата физика, която приема, че енергията може да има всякакви стойности.</a:t>
            </a:r>
          </a:p>
          <a:p>
            <a:r>
              <a:rPr lang="ru-RU" sz="2400" dirty="0"/>
              <a:t>Той въвежда формулата:</a:t>
            </a:r>
            <a:br>
              <a:rPr lang="ru-RU" sz="2400" dirty="0"/>
            </a:br>
            <a:r>
              <a:rPr lang="ru-RU" sz="2400" b="1" dirty="0"/>
              <a:t>E = h · f</a:t>
            </a:r>
            <a:r>
              <a:rPr lang="ru-RU" sz="2400" dirty="0"/>
              <a:t>,</a:t>
            </a:r>
            <a:br>
              <a:rPr lang="ru-RU" sz="2400" dirty="0"/>
            </a:br>
            <a:r>
              <a:rPr lang="ru-RU" sz="2400" dirty="0"/>
              <a:t>където </a:t>
            </a:r>
            <a:r>
              <a:rPr lang="ru-RU" sz="2400" i="1" dirty="0"/>
              <a:t>h</a:t>
            </a:r>
            <a:r>
              <a:rPr lang="ru-RU" sz="2400" dirty="0"/>
              <a:t> е константата на Планк, а </a:t>
            </a:r>
            <a:r>
              <a:rPr lang="ru-RU" sz="2400" i="1" dirty="0"/>
              <a:t>f</a:t>
            </a:r>
            <a:r>
              <a:rPr lang="ru-RU" sz="2400" dirty="0"/>
              <a:t> – честотата.</a:t>
            </a:r>
          </a:p>
          <a:p>
            <a:r>
              <a:rPr lang="ru-RU" sz="2400" b="1" dirty="0"/>
              <a:t>Пример</a:t>
            </a:r>
            <a:r>
              <a:rPr lang="en-US" sz="2400" b="1" dirty="0"/>
              <a:t>:</a:t>
            </a:r>
            <a:endParaRPr lang="ru-RU" sz="2400" b="1" dirty="0"/>
          </a:p>
          <a:p>
            <a:pPr marL="0" indent="0">
              <a:buNone/>
            </a:pPr>
            <a:r>
              <a:rPr lang="ru-RU" sz="2400" dirty="0"/>
              <a:t>Представи си стълбище. Можеш да стъпиш </a:t>
            </a:r>
            <a:r>
              <a:rPr lang="ru-RU" sz="2400" b="1" dirty="0"/>
              <a:t>само на стъпалата</a:t>
            </a:r>
            <a:r>
              <a:rPr lang="ru-RU" sz="2400" dirty="0"/>
              <a:t>, а не между тях.</a:t>
            </a:r>
            <a:br>
              <a:rPr lang="ru-RU" sz="2400" dirty="0"/>
            </a:br>
            <a:r>
              <a:rPr lang="ru-RU" sz="2400" dirty="0"/>
              <a:t>По същия начин електронът може да има </a:t>
            </a:r>
            <a:r>
              <a:rPr lang="ru-RU" sz="2400" b="1" dirty="0"/>
              <a:t>само определени енергийни нива</a:t>
            </a:r>
            <a:r>
              <a:rPr lang="ru-RU" sz="2400" dirty="0"/>
              <a:t>, а не произволни.</a:t>
            </a:r>
          </a:p>
          <a:p>
            <a:pPr marL="0" indent="0">
              <a:buNone/>
            </a:pPr>
            <a:endParaRPr lang="bg-BG" sz="2400" dirty="0"/>
          </a:p>
        </p:txBody>
      </p:sp>
      <p:pic>
        <p:nvPicPr>
          <p:cNvPr id="1026" name="Picture 2" descr="На тази дата Нилс Бор завършва статията си, която полага началото на  квантовата теория | Физика">
            <a:extLst>
              <a:ext uri="{FF2B5EF4-FFF2-40B4-BE49-F238E27FC236}">
                <a16:creationId xmlns:a16="http://schemas.microsoft.com/office/drawing/2014/main" id="{D8DD4041-EB15-985B-7DCF-F169787F1102}"/>
              </a:ext>
            </a:extLst>
          </p:cNvPr>
          <p:cNvPicPr>
            <a:picLocks noGrp="1" noChangeAspect="1" noChangeArrowheads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72203" y="1579317"/>
            <a:ext cx="5802923" cy="36993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69770575"/>
      </p:ext>
    </p:extLst>
  </p:cSld>
  <p:clrMapOvr>
    <a:masterClrMapping/>
  </p:clrMapOvr>
  <p:transition spd="slow">
    <p:push dir="u"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B7A977-7A78-7A44-95EB-1A2200F385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2. Фотоелектричен ефект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B892E58-5435-3189-8A0E-71EFE7619CB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b="1" dirty="0">
                <a:solidFill>
                  <a:schemeClr val="tx1"/>
                </a:solidFill>
              </a:rPr>
              <a:t>Учен:</a:t>
            </a:r>
            <a:r>
              <a:rPr lang="ru-RU" dirty="0">
                <a:solidFill>
                  <a:schemeClr val="tx1"/>
                </a:solidFill>
              </a:rPr>
              <a:t> Алберт Айнщайн</a:t>
            </a:r>
            <a:br>
              <a:rPr lang="ru-RU" dirty="0">
                <a:solidFill>
                  <a:schemeClr val="tx1"/>
                </a:solidFill>
              </a:rPr>
            </a:br>
            <a:r>
              <a:rPr lang="ru-RU" b="1" dirty="0">
                <a:solidFill>
                  <a:schemeClr val="tx1"/>
                </a:solidFill>
              </a:rPr>
              <a:t>Година:</a:t>
            </a:r>
            <a:r>
              <a:rPr lang="ru-RU" dirty="0">
                <a:solidFill>
                  <a:schemeClr val="tx1"/>
                </a:solidFill>
              </a:rPr>
              <a:t> 1905 г.</a:t>
            </a:r>
            <a:endParaRPr lang="bg-BG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92000464"/>
      </p:ext>
    </p:extLst>
  </p:cSld>
  <p:clrMapOvr>
    <a:masterClrMapping/>
  </p:clrMapOvr>
  <p:transition spd="slow">
    <p:push dir="u"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EE4720-B159-4A93-1543-C7B9F4E4FF5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574200"/>
            <a:ext cx="5181600" cy="5709600"/>
          </a:xfrm>
        </p:spPr>
        <p:txBody>
          <a:bodyPr>
            <a:normAutofit fontScale="92500" lnSpcReduction="20000"/>
          </a:bodyPr>
          <a:lstStyle/>
          <a:p>
            <a:r>
              <a:rPr lang="ru-RU" b="1" dirty="0"/>
              <a:t>Теория:</a:t>
            </a:r>
          </a:p>
          <a:p>
            <a:pPr marL="0" indent="0">
              <a:buNone/>
            </a:pPr>
            <a:r>
              <a:rPr lang="ru-RU" dirty="0"/>
              <a:t>Айнщайн доказва, че светлината се държи като поток от частици – </a:t>
            </a:r>
            <a:r>
              <a:rPr lang="ru-RU" b="1" dirty="0"/>
              <a:t>фотони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Когато светлина с достатъчно висока честота падне върху метал, тя може да </a:t>
            </a:r>
            <a:r>
              <a:rPr lang="ru-RU" b="1" dirty="0"/>
              <a:t>избие електрони</a:t>
            </a:r>
            <a:r>
              <a:rPr lang="ru-RU" dirty="0"/>
              <a:t> от него.</a:t>
            </a:r>
          </a:p>
          <a:p>
            <a:r>
              <a:rPr lang="ru-RU" dirty="0"/>
              <a:t>Важно е, че не силата (яркостта), а </a:t>
            </a:r>
            <a:r>
              <a:rPr lang="ru-RU" b="1" dirty="0"/>
              <a:t>честотата</a:t>
            </a:r>
            <a:r>
              <a:rPr lang="ru-RU" dirty="0"/>
              <a:t> на светлината определя дали ще се отделят електрони.</a:t>
            </a:r>
          </a:p>
          <a:p>
            <a:r>
              <a:rPr lang="ru-RU" b="1" dirty="0"/>
              <a:t>Пример</a:t>
            </a:r>
          </a:p>
          <a:p>
            <a:pPr marL="0" indent="0">
              <a:buNone/>
            </a:pPr>
            <a:r>
              <a:rPr lang="ru-RU" dirty="0"/>
              <a:t>Слаба </a:t>
            </a:r>
            <a:r>
              <a:rPr lang="ru-RU" b="1" dirty="0"/>
              <a:t>ултравиолетова светлина</a:t>
            </a:r>
            <a:r>
              <a:rPr lang="ru-RU" dirty="0"/>
              <a:t> може да избие електрон,</a:t>
            </a:r>
            <a:br>
              <a:rPr lang="ru-RU" dirty="0"/>
            </a:br>
            <a:r>
              <a:rPr lang="ru-RU" dirty="0"/>
              <a:t>но много силна </a:t>
            </a:r>
            <a:r>
              <a:rPr lang="ru-RU" b="1" dirty="0"/>
              <a:t>червена светлина</a:t>
            </a:r>
            <a:r>
              <a:rPr lang="ru-RU" dirty="0"/>
              <a:t> – не може.</a:t>
            </a:r>
          </a:p>
          <a:p>
            <a:endParaRPr lang="bg-BG" dirty="0"/>
          </a:p>
        </p:txBody>
      </p:sp>
      <p:pic>
        <p:nvPicPr>
          <p:cNvPr id="2050" name="Picture 2" descr="Фотоелектричен ефект | physicstime.com">
            <a:extLst>
              <a:ext uri="{FF2B5EF4-FFF2-40B4-BE49-F238E27FC236}">
                <a16:creationId xmlns:a16="http://schemas.microsoft.com/office/drawing/2014/main" id="{E1212FA1-830C-FF50-4272-1E642FAB67B7}"/>
              </a:ext>
            </a:extLst>
          </p:cNvPr>
          <p:cNvPicPr>
            <a:picLocks noGrp="1" noChangeAspect="1" noChangeArrowheads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86990" y="1872945"/>
            <a:ext cx="4329136" cy="31121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61399001"/>
      </p:ext>
    </p:extLst>
  </p:cSld>
  <p:clrMapOvr>
    <a:masterClrMapping/>
  </p:clrMapOvr>
  <p:transition spd="slow">
    <p:push dir="u"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93FF02-E56F-78D3-89E9-FD6E966711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3. Вълново-частичен дуализъм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90B35BF-ADC5-AEB8-E910-FCDC81FC8A9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b="1" dirty="0">
                <a:solidFill>
                  <a:schemeClr val="tx1"/>
                </a:solidFill>
              </a:rPr>
              <a:t>Учен:</a:t>
            </a:r>
            <a:r>
              <a:rPr lang="ru-RU" dirty="0">
                <a:solidFill>
                  <a:schemeClr val="tx1"/>
                </a:solidFill>
              </a:rPr>
              <a:t> Луи дьо Бройл</a:t>
            </a:r>
            <a:br>
              <a:rPr lang="ru-RU" dirty="0">
                <a:solidFill>
                  <a:schemeClr val="tx1"/>
                </a:solidFill>
              </a:rPr>
            </a:br>
            <a:r>
              <a:rPr lang="ru-RU" b="1" dirty="0">
                <a:solidFill>
                  <a:schemeClr val="tx1"/>
                </a:solidFill>
              </a:rPr>
              <a:t>Година:</a:t>
            </a:r>
            <a:r>
              <a:rPr lang="ru-RU" dirty="0">
                <a:solidFill>
                  <a:schemeClr val="tx1"/>
                </a:solidFill>
              </a:rPr>
              <a:t> 1924 г.</a:t>
            </a:r>
            <a:endParaRPr lang="bg-BG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7436350"/>
      </p:ext>
    </p:extLst>
  </p:cSld>
  <p:clrMapOvr>
    <a:masterClrMapping/>
  </p:clrMapOvr>
  <p:transition spd="slow">
    <p:push dir="u"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161C5A-9A95-939A-E8AC-78F55B4A433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574200"/>
            <a:ext cx="5181600" cy="5709600"/>
          </a:xfrm>
        </p:spPr>
        <p:txBody>
          <a:bodyPr>
            <a:normAutofit lnSpcReduction="10000"/>
          </a:bodyPr>
          <a:lstStyle/>
          <a:p>
            <a:r>
              <a:rPr lang="ru-RU" b="1" dirty="0"/>
              <a:t>Теория:</a:t>
            </a:r>
          </a:p>
          <a:p>
            <a:pPr marL="0" indent="0">
              <a:buNone/>
            </a:pPr>
            <a:r>
              <a:rPr lang="ru-RU" dirty="0"/>
              <a:t>Дьо Бройл предлага, че </a:t>
            </a:r>
            <a:r>
              <a:rPr lang="ru-RU" b="1" dirty="0"/>
              <a:t>всяка частица</a:t>
            </a:r>
            <a:r>
              <a:rPr lang="ru-RU" dirty="0"/>
              <a:t> (електрон, протон) има и </a:t>
            </a:r>
            <a:r>
              <a:rPr lang="ru-RU" b="1" dirty="0"/>
              <a:t>вълнови свойства</a:t>
            </a:r>
            <a:r>
              <a:rPr lang="ru-RU" dirty="0"/>
              <a:t>, а не само маса и скорост.</a:t>
            </a:r>
            <a:br>
              <a:rPr lang="ru-RU" dirty="0"/>
            </a:br>
            <a:r>
              <a:rPr lang="ru-RU" dirty="0"/>
              <a:t>Това означава, че материята може да се държи </a:t>
            </a:r>
            <a:r>
              <a:rPr lang="ru-RU" b="1" dirty="0"/>
              <a:t>едновременно като частица и като вълна</a:t>
            </a:r>
            <a:r>
              <a:rPr lang="ru-RU" dirty="0"/>
              <a:t>.</a:t>
            </a:r>
          </a:p>
          <a:p>
            <a:r>
              <a:rPr lang="ru-RU" b="1" dirty="0"/>
              <a:t>Пример</a:t>
            </a:r>
          </a:p>
          <a:p>
            <a:r>
              <a:rPr lang="ru-RU" dirty="0"/>
              <a:t>Електрон: се засича като </a:t>
            </a:r>
            <a:r>
              <a:rPr lang="ru-RU" b="1" dirty="0"/>
              <a:t>точка</a:t>
            </a:r>
            <a:r>
              <a:rPr lang="ru-RU" dirty="0"/>
              <a:t> (частица), но създава </a:t>
            </a:r>
            <a:r>
              <a:rPr lang="ru-RU" b="1" dirty="0"/>
              <a:t>интерференчна картина</a:t>
            </a:r>
            <a:r>
              <a:rPr lang="ru-RU" dirty="0"/>
              <a:t> като вълна.</a:t>
            </a:r>
          </a:p>
        </p:txBody>
      </p:sp>
      <p:pic>
        <p:nvPicPr>
          <p:cNvPr id="3074" name="Picture 2" descr="Дуализъм">
            <a:extLst>
              <a:ext uri="{FF2B5EF4-FFF2-40B4-BE49-F238E27FC236}">
                <a16:creationId xmlns:a16="http://schemas.microsoft.com/office/drawing/2014/main" id="{1D608B49-6871-4513-19F0-0B5C2AD519C1}"/>
              </a:ext>
            </a:extLst>
          </p:cNvPr>
          <p:cNvPicPr>
            <a:picLocks noGrp="1" noChangeAspect="1" noChangeArrowheads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27179" y="2195146"/>
            <a:ext cx="5181600" cy="2590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13266703"/>
      </p:ext>
    </p:extLst>
  </p:cSld>
  <p:clrMapOvr>
    <a:masterClrMapping/>
  </p:clrMapOvr>
  <p:transition spd="slow">
    <p:push dir="u"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DEE0FB-D125-BCFF-6C90-3AE1B3280F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bg-BG" dirty="0"/>
              <a:t>4. Принцип на неопределеността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A0E4A1C-114F-0AAE-3B50-CC1E21603E3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>
                <a:solidFill>
                  <a:schemeClr val="tx1"/>
                </a:solidFill>
              </a:rPr>
              <a:t>Учен: Вернер Хайзенберг</a:t>
            </a:r>
          </a:p>
          <a:p>
            <a:r>
              <a:rPr lang="ru-RU" dirty="0">
                <a:solidFill>
                  <a:schemeClr val="tx1"/>
                </a:solidFill>
              </a:rPr>
              <a:t>Година: 1927 г.</a:t>
            </a:r>
            <a:endParaRPr lang="bg-BG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02944917"/>
      </p:ext>
    </p:extLst>
  </p:cSld>
  <p:clrMapOvr>
    <a:masterClrMapping/>
  </p:clrMapOvr>
  <p:transition spd="slow">
    <p:push dir="u"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81D5C1-4AC8-2066-CD39-0C07ABFAD52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574200"/>
            <a:ext cx="5181600" cy="5709600"/>
          </a:xfrm>
        </p:spPr>
        <p:txBody>
          <a:bodyPr>
            <a:normAutofit fontScale="77500" lnSpcReduction="20000"/>
          </a:bodyPr>
          <a:lstStyle/>
          <a:p>
            <a:r>
              <a:rPr lang="ru-RU" dirty="0"/>
              <a:t>Теория:</a:t>
            </a:r>
          </a:p>
          <a:p>
            <a:endParaRPr lang="ru-RU" dirty="0"/>
          </a:p>
          <a:p>
            <a:r>
              <a:rPr lang="ru-RU" dirty="0"/>
              <a:t>Невъзможно е едновременно да се знаят точната позиция и точната скорост на една квантова частица.</a:t>
            </a:r>
          </a:p>
          <a:p>
            <a:r>
              <a:rPr lang="ru-RU" dirty="0"/>
              <a:t>Колкото по-точно знаем едното, толкова по-неточно знаем другото.</a:t>
            </a:r>
          </a:p>
          <a:p>
            <a:endParaRPr lang="ru-RU" dirty="0"/>
          </a:p>
          <a:p>
            <a:r>
              <a:rPr lang="ru-RU" dirty="0"/>
              <a:t>Това не е грешка на измерването, а фундаментално свойство на природата.</a:t>
            </a:r>
          </a:p>
          <a:p>
            <a:endParaRPr lang="ru-RU" dirty="0"/>
          </a:p>
          <a:p>
            <a:r>
              <a:rPr lang="ru-RU" dirty="0"/>
              <a:t>Пример:</a:t>
            </a:r>
          </a:p>
          <a:p>
            <a:endParaRPr lang="ru-RU" dirty="0"/>
          </a:p>
          <a:p>
            <a:r>
              <a:rPr lang="ru-RU" dirty="0"/>
              <a:t>Все едно да се опитваш да видиш кола в пълна тъмнина, като я осветиш с фенер – самата светлина я избутва леко и променя движението ѝ.</a:t>
            </a:r>
          </a:p>
          <a:p>
            <a:endParaRPr lang="bg-BG" dirty="0"/>
          </a:p>
        </p:txBody>
      </p:sp>
      <p:pic>
        <p:nvPicPr>
          <p:cNvPr id="4098" name="Picture 2" descr="Вернер Хайзенберг и принципа на неопределеността | Teenproblem.net">
            <a:extLst>
              <a:ext uri="{FF2B5EF4-FFF2-40B4-BE49-F238E27FC236}">
                <a16:creationId xmlns:a16="http://schemas.microsoft.com/office/drawing/2014/main" id="{FFCDC42F-040B-3B3F-DF31-AE24EF1E25F5}"/>
              </a:ext>
            </a:extLst>
          </p:cNvPr>
          <p:cNvPicPr>
            <a:picLocks noGrp="1" noChangeAspect="1" noChangeArrowheads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59062" y="309542"/>
            <a:ext cx="5181600" cy="33374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0" name="Picture 4" descr="Принцип на неопределеността - Читател - живей в по-добрия свят!">
            <a:extLst>
              <a:ext uri="{FF2B5EF4-FFF2-40B4-BE49-F238E27FC236}">
                <a16:creationId xmlns:a16="http://schemas.microsoft.com/office/drawing/2014/main" id="{BF67B9AF-6208-F6BA-78D6-FCEA899A69E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59062" y="3690958"/>
            <a:ext cx="5181600" cy="2857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261076443"/>
      </p:ext>
    </p:extLst>
  </p:cSld>
  <p:clrMapOvr>
    <a:masterClrMapping/>
  </p:clrMapOvr>
  <p:transition spd="slow">
    <p:push dir="u"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5D1CF3-C268-9311-4720-A0DD969DA0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5. Квантова суперпозиция</a:t>
            </a:r>
            <a:r>
              <a:rPr lang="ru-RU" dirty="0"/>
              <a:t> </a:t>
            </a:r>
            <a:endParaRPr lang="bg-BG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AED7C26-FA37-B71C-1329-63698DFAEB2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>
                <a:solidFill>
                  <a:schemeClr val="tx1"/>
                </a:solidFill>
              </a:rPr>
              <a:t>Учен: Ервин Шрьодингер</a:t>
            </a:r>
          </a:p>
          <a:p>
            <a:r>
              <a:rPr lang="ru-RU" dirty="0">
                <a:solidFill>
                  <a:schemeClr val="tx1"/>
                </a:solidFill>
              </a:rPr>
              <a:t>Година: 1926 г.</a:t>
            </a:r>
            <a:endParaRPr lang="bg-BG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42512975"/>
      </p:ext>
    </p:extLst>
  </p:cSld>
  <p:clrMapOvr>
    <a:masterClrMapping/>
  </p:clrMapOvr>
  <p:transition spd="slow">
    <p:push dir="u"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DBCA98F-6F62-02FA-2E89-991AEE8E92E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574200"/>
            <a:ext cx="5181600" cy="5709600"/>
          </a:xfrm>
        </p:spPr>
        <p:txBody>
          <a:bodyPr>
            <a:normAutofit fontScale="77500" lnSpcReduction="20000"/>
          </a:bodyPr>
          <a:lstStyle/>
          <a:p>
            <a:r>
              <a:rPr lang="ru-RU" dirty="0"/>
              <a:t>Теория:</a:t>
            </a:r>
          </a:p>
          <a:p>
            <a:endParaRPr lang="ru-RU" dirty="0"/>
          </a:p>
          <a:p>
            <a:r>
              <a:rPr lang="ru-RU" dirty="0"/>
              <a:t>Квантовата частица може да съществува в няколко състояния едновременно, докато не бъде измерена.</a:t>
            </a:r>
          </a:p>
          <a:p>
            <a:r>
              <a:rPr lang="ru-RU" dirty="0"/>
              <a:t>Състоянието ѝ се описва с вълнова функция, която показва вероятности.</a:t>
            </a:r>
          </a:p>
          <a:p>
            <a:endParaRPr lang="ru-RU" dirty="0"/>
          </a:p>
          <a:p>
            <a:r>
              <a:rPr lang="ru-RU" dirty="0"/>
              <a:t>Пример:</a:t>
            </a:r>
          </a:p>
          <a:p>
            <a:endParaRPr lang="ru-RU" dirty="0"/>
          </a:p>
          <a:p>
            <a:r>
              <a:rPr lang="ru-RU" dirty="0"/>
              <a:t>Електрон може да бъде:и тук, и там, едновременно, докато не го измерим.</a:t>
            </a:r>
          </a:p>
          <a:p>
            <a:endParaRPr lang="ru-RU" dirty="0"/>
          </a:p>
          <a:p>
            <a:r>
              <a:rPr lang="ru-RU" dirty="0"/>
              <a:t>Известен пример е мисловният експеримент с котката на Шрьодингер – жива и мъртва едновременно.</a:t>
            </a:r>
            <a:endParaRPr lang="bg-BG" dirty="0"/>
          </a:p>
        </p:txBody>
      </p:sp>
      <p:pic>
        <p:nvPicPr>
          <p:cNvPr id="5122" name="Picture 2" descr="Парадоксите на квантовата механика смущават съня на физиците | Мегавселена">
            <a:extLst>
              <a:ext uri="{FF2B5EF4-FFF2-40B4-BE49-F238E27FC236}">
                <a16:creationId xmlns:a16="http://schemas.microsoft.com/office/drawing/2014/main" id="{17FDDF77-6EB0-9534-252B-B28B40513680}"/>
              </a:ext>
            </a:extLst>
          </p:cNvPr>
          <p:cNvPicPr>
            <a:picLocks noGrp="1" noChangeAspect="1" noChangeArrowheads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72200" y="2052903"/>
            <a:ext cx="5181600" cy="27521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40781000"/>
      </p:ext>
    </p:extLst>
  </p:cSld>
  <p:clrMapOvr>
    <a:masterClrMapping/>
  </p:clrMapOvr>
  <p:transition spd="slow">
    <p:push dir="u"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244B29-8145-CCDC-44D3-36117082EF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6. Колапс на вълновата функция</a:t>
            </a:r>
            <a:endParaRPr lang="bg-BG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58A180C-058D-4E7D-186A-F4B3C0492A1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>
                <a:solidFill>
                  <a:schemeClr val="tx1"/>
                </a:solidFill>
              </a:rPr>
              <a:t>Учен: Нилс Бор (Копенхагенска интерпретация)</a:t>
            </a:r>
          </a:p>
          <a:p>
            <a:r>
              <a:rPr lang="ru-RU" dirty="0">
                <a:solidFill>
                  <a:schemeClr val="tx1"/>
                </a:solidFill>
              </a:rPr>
              <a:t>Година: около 1927 г.</a:t>
            </a:r>
          </a:p>
          <a:p>
            <a:endParaRPr lang="bg-BG" dirty="0"/>
          </a:p>
        </p:txBody>
      </p:sp>
    </p:spTree>
    <p:extLst>
      <p:ext uri="{BB962C8B-B14F-4D97-AF65-F5344CB8AC3E}">
        <p14:creationId xmlns:p14="http://schemas.microsoft.com/office/powerpoint/2010/main" val="1353571212"/>
      </p:ext>
    </p:extLst>
  </p:cSld>
  <p:clrMapOvr>
    <a:masterClrMapping/>
  </p:clrMapOvr>
  <p:transition spd="slow">
    <p:push dir="u"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922B42-2D6F-F376-66FE-152B4391A1E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1" y="574200"/>
            <a:ext cx="5181600" cy="5709600"/>
          </a:xfrm>
        </p:spPr>
        <p:txBody>
          <a:bodyPr>
            <a:normAutofit fontScale="92500" lnSpcReduction="20000"/>
          </a:bodyPr>
          <a:lstStyle/>
          <a:p>
            <a:r>
              <a:rPr lang="ru-RU" dirty="0"/>
              <a:t>Теория:</a:t>
            </a:r>
          </a:p>
          <a:p>
            <a:endParaRPr lang="ru-RU" dirty="0"/>
          </a:p>
          <a:p>
            <a:r>
              <a:rPr lang="ru-RU" dirty="0"/>
              <a:t>Когато извършим измерване, суперпозицията изчезва и частицата избира едно конкретно състояние.</a:t>
            </a:r>
          </a:p>
          <a:p>
            <a:r>
              <a:rPr lang="ru-RU" dirty="0"/>
              <a:t>Този процес се нарича колапс на вълновата функция.</a:t>
            </a:r>
          </a:p>
          <a:p>
            <a:endParaRPr lang="ru-RU" dirty="0"/>
          </a:p>
          <a:p>
            <a:r>
              <a:rPr lang="ru-RU" dirty="0"/>
              <a:t>Пример:</a:t>
            </a:r>
          </a:p>
          <a:p>
            <a:pPr marL="0" indent="0">
              <a:buNone/>
            </a:pPr>
            <a:r>
              <a:rPr lang="ru-RU" dirty="0"/>
              <a:t>Преди измерване:</a:t>
            </a:r>
          </a:p>
          <a:p>
            <a:pPr marL="0" indent="0">
              <a:buNone/>
            </a:pPr>
            <a:r>
              <a:rPr lang="ru-RU" dirty="0"/>
              <a:t>електронът е на много възможни места.</a:t>
            </a:r>
          </a:p>
          <a:p>
            <a:pPr marL="0" indent="0">
              <a:buNone/>
            </a:pPr>
            <a:r>
              <a:rPr lang="ru-RU" dirty="0"/>
              <a:t>След измерване:</a:t>
            </a:r>
          </a:p>
          <a:p>
            <a:pPr marL="0" indent="0">
              <a:buNone/>
            </a:pPr>
            <a:r>
              <a:rPr lang="ru-RU" dirty="0"/>
              <a:t>намираме го на едно конкретно място.</a:t>
            </a:r>
            <a:endParaRPr lang="bg-BG" dirty="0"/>
          </a:p>
        </p:txBody>
      </p:sp>
      <p:pic>
        <p:nvPicPr>
          <p:cNvPr id="6146" name="Picture 2" descr="колапс на вълновата функция">
            <a:extLst>
              <a:ext uri="{FF2B5EF4-FFF2-40B4-BE49-F238E27FC236}">
                <a16:creationId xmlns:a16="http://schemas.microsoft.com/office/drawing/2014/main" id="{F814A5B1-E8E1-6006-04E2-265AB74CE1BB}"/>
              </a:ext>
            </a:extLst>
          </p:cNvPr>
          <p:cNvPicPr>
            <a:picLocks noGrp="1" noChangeAspect="1" noChangeArrowheads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72200" y="1830027"/>
            <a:ext cx="5181600" cy="31979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54375122"/>
      </p:ext>
    </p:extLst>
  </p:cSld>
  <p:clrMapOvr>
    <a:masterClrMapping/>
  </p:clrMapOvr>
  <p:transition spd="slow">
    <p:push dir="u"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272</TotalTime>
  <Words>611</Words>
  <Application>Microsoft Office PowerPoint</Application>
  <PresentationFormat>Widescreen</PresentationFormat>
  <Paragraphs>65</Paragraphs>
  <Slides>15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9" baseType="lpstr">
      <vt:lpstr>Arial</vt:lpstr>
      <vt:lpstr>Calibri</vt:lpstr>
      <vt:lpstr>Calibri Light</vt:lpstr>
      <vt:lpstr>Office Theme</vt:lpstr>
      <vt:lpstr>Основни принципи на квантовата физика</vt:lpstr>
      <vt:lpstr>Какво е квантовата физика?</vt:lpstr>
      <vt:lpstr>Принципи на квантовата физика</vt:lpstr>
      <vt:lpstr>1. Квантуване на енергията</vt:lpstr>
      <vt:lpstr>PowerPoint Presentation</vt:lpstr>
      <vt:lpstr>2. Фотоелектричен ефект</vt:lpstr>
      <vt:lpstr>PowerPoint Presentation</vt:lpstr>
      <vt:lpstr>3. Вълново-частичен дуализъм</vt:lpstr>
      <vt:lpstr>PowerPoint Presentation</vt:lpstr>
      <vt:lpstr>4. Принцип на неопределеността</vt:lpstr>
      <vt:lpstr>PowerPoint Presentation</vt:lpstr>
      <vt:lpstr>5. Квантова суперпозиция </vt:lpstr>
      <vt:lpstr>PowerPoint Presentation</vt:lpstr>
      <vt:lpstr>6. Колапс на вълновата функция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Martin Velev</dc:creator>
  <cp:lastModifiedBy>Martin Velev</cp:lastModifiedBy>
  <cp:revision>13</cp:revision>
  <dcterms:created xsi:type="dcterms:W3CDTF">2026-01-20T14:26:01Z</dcterms:created>
  <dcterms:modified xsi:type="dcterms:W3CDTF">2026-01-21T05:49:24Z</dcterms:modified>
</cp:coreProperties>
</file>