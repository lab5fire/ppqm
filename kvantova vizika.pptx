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308D8-64D7-2834-CA86-FBF0BDD16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F33B34-16D5-CFFE-3393-9016DBA53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39FBB-E0AA-ACA6-834E-DA3B6FAB1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73BD-1082-4503-BC6F-F0C637969118}" type="datetimeFigureOut">
              <a:rPr lang="bg-BG" smtClean="0"/>
              <a:t>20.1.2026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3E331-30BA-02B9-31E7-753AE839A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7B38A-EE22-9FD2-901C-C151B7A1C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2C2C7-A948-49AB-AD0D-83488FA7FE1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05233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61072-6D1C-7EDD-E5D0-64C066198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1636E-592D-3472-E3A9-B8E9A6264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FE2DF-A3A1-31B0-0C17-F3F92336C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73BD-1082-4503-BC6F-F0C637969118}" type="datetimeFigureOut">
              <a:rPr lang="bg-BG" smtClean="0"/>
              <a:t>20.1.2026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31A8C-8AFC-A5E5-D8BC-7DB25A55B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A2C25-39EB-732B-4C54-FEB4253C9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2C2C7-A948-49AB-AD0D-83488FA7FE1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38164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B1328-CCD6-9AF6-9D2B-9A82D237E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FA226-87CB-EF20-675E-5842597E0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130B2-C287-6023-2C6D-8C2B08DDA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73BD-1082-4503-BC6F-F0C637969118}" type="datetimeFigureOut">
              <a:rPr lang="bg-BG" smtClean="0"/>
              <a:t>20.1.2026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92F1B-40C4-1E63-5411-6607C3FA3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8A343-F501-42D9-0B17-3D7D2149D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2C2C7-A948-49AB-AD0D-83488FA7FE1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73454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E009C-5B2A-CACC-3E95-DC6ACD19D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CB8BF-E482-4CBB-C2B0-1C78B7E70B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6307B-6D0A-2B25-5F74-35EBCB587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ADAC6-35C6-A7DE-2290-013CE5380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73BD-1082-4503-BC6F-F0C637969118}" type="datetimeFigureOut">
              <a:rPr lang="bg-BG" smtClean="0"/>
              <a:t>20.1.2026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2F72A-5BC9-F02A-15C1-9F7D5637F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9A3A0-28DD-3EED-B915-EC4657C17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2C2C7-A948-49AB-AD0D-83488FA7FE1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71067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C213A-54D4-857E-044B-C837E2EA8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A11FF-6AA2-EACB-221A-BA010B36D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823DF-A596-3CEB-A2D5-141942A855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B97B1C-B8AA-E8B1-70EA-F8F1F3BADA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23911F-D0ED-867B-8DB6-D6E3B74222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09E9B0-1084-5DA4-D0C1-26099115A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73BD-1082-4503-BC6F-F0C637969118}" type="datetimeFigureOut">
              <a:rPr lang="bg-BG" smtClean="0"/>
              <a:t>20.1.2026 г.</a:t>
            </a:fld>
            <a:endParaRPr lang="bg-B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3C7EE0-21F8-436C-EA52-F399B7BE5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2A0DC9-DDBB-E9B6-4EF8-4A4581C71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2C2C7-A948-49AB-AD0D-83488FA7FE1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24740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28F86-BF9C-8FFA-9D1B-87444CF78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93F796-A834-D4B7-82E0-7E93FD7E1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73BD-1082-4503-BC6F-F0C637969118}" type="datetimeFigureOut">
              <a:rPr lang="bg-BG" smtClean="0"/>
              <a:t>20.1.2026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B64FDE-2AA0-18F1-0A17-F81CE4982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D021FE-900F-52F4-1A55-440AABF75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2C2C7-A948-49AB-AD0D-83488FA7FE1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2077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9C0A3C-6A14-72EE-F5D3-D324BFA13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73BD-1082-4503-BC6F-F0C637969118}" type="datetimeFigureOut">
              <a:rPr lang="bg-BG" smtClean="0"/>
              <a:t>20.1.2026 г.</a:t>
            </a:fld>
            <a:endParaRPr lang="bg-B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D979F3-2BD4-CF52-5096-5EDC61D25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F1055-332E-E444-D973-CB62D649B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2C2C7-A948-49AB-AD0D-83488FA7FE1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31563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CE94E-1943-ABFC-54B4-7A7F002D8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42509-0CBC-7301-0895-B781BF453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D08DB9-C5DC-893E-2001-54D2D179D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D17F5-6148-EFEC-3CF8-F0E1D4B53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73BD-1082-4503-BC6F-F0C637969118}" type="datetimeFigureOut">
              <a:rPr lang="bg-BG" smtClean="0"/>
              <a:t>20.1.2026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8C003-38D9-BDDC-8D46-063AB2172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B30B5-16FC-66AB-7742-EE737C9C0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2C2C7-A948-49AB-AD0D-83488FA7FE1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92090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E90A9-FC5E-0E74-CABB-ACD446927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CCF36A-21A3-4F83-32BE-CE4712981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21170-FE3F-6444-1604-DB627DC33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A7C5A-714E-7749-05BB-8D50722C2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73BD-1082-4503-BC6F-F0C637969118}" type="datetimeFigureOut">
              <a:rPr lang="bg-BG" smtClean="0"/>
              <a:t>20.1.2026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D4444-1EC2-8470-8F3B-536685984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0646EF-96A4-B6C5-B686-D580F4527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2C2C7-A948-49AB-AD0D-83488FA7FE1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14840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EDC67-3550-ECFB-4BB9-3C9296851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391FD7-3EA4-3957-4F6D-3B636691D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856EA-56B7-4D0D-61E8-BB1BDF740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73BD-1082-4503-BC6F-F0C637969118}" type="datetimeFigureOut">
              <a:rPr lang="bg-BG" smtClean="0"/>
              <a:t>20.1.2026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7C474-76C0-8842-5A9C-C95D9AF6B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1CF91-4DBC-D5B8-6B3A-80F83E49B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2C2C7-A948-49AB-AD0D-83488FA7FE1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90822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FA67E8-81CE-27F1-89A8-9E7C015356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B96B2A-AE41-326B-874C-9D680EEC0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1FF2E-7934-F32B-51C2-0C942B269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73BD-1082-4503-BC6F-F0C637969118}" type="datetimeFigureOut">
              <a:rPr lang="bg-BG" smtClean="0"/>
              <a:t>20.1.2026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E1EB2-0952-F201-4A2A-B87152513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4233B-C016-E43B-2C3F-8EF8DC5F3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2C2C7-A948-49AB-AD0D-83488FA7FE1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67147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C33BD2-1171-4085-E8C5-97DF73F64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D6180-3716-7467-983C-949D9AE9E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11A04-7516-6A23-C76F-EF41A49D4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173BD-1082-4503-BC6F-F0C637969118}" type="datetimeFigureOut">
              <a:rPr lang="bg-BG" smtClean="0"/>
              <a:t>20.1.2026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8DA47-6D29-BFE7-50C8-19414000A4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E66CE-7132-B90E-572B-BC7465A853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2C2C7-A948-49AB-AD0D-83488FA7FE1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96991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F9201A-E3A2-A352-82D0-274E5675057A}"/>
              </a:ext>
            </a:extLst>
          </p:cNvPr>
          <p:cNvSpPr/>
          <p:nvPr/>
        </p:nvSpPr>
        <p:spPr>
          <a:xfrm>
            <a:off x="1406769" y="1556238"/>
            <a:ext cx="9144000" cy="308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10C5D1-1831-A2D2-3BE1-1878A1DBEE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Основни принципи на</a:t>
            </a:r>
            <a:br>
              <a:rPr lang="bg-BG" dirty="0"/>
            </a:br>
            <a:r>
              <a:rPr lang="bg-BG" dirty="0"/>
              <a:t>квантовата физика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798665-A47C-93E8-DDD4-9DFE40CAB5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/>
              <a:t>Проект направен от Мартин Велев и Никола Иванов</a:t>
            </a:r>
          </a:p>
        </p:txBody>
      </p:sp>
      <p:pic>
        <p:nvPicPr>
          <p:cNvPr id="1026" name="Picture 2" descr="Cristiano Ronaldo Drinking GIF - Cristiano Ronaldo Drinking Wink - Discover  &amp; Share GIFs">
            <a:extLst>
              <a:ext uri="{FF2B5EF4-FFF2-40B4-BE49-F238E27FC236}">
                <a16:creationId xmlns:a16="http://schemas.microsoft.com/office/drawing/2014/main" id="{E69AE2B2-969C-5419-A351-E8F335E30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2416" y="5002823"/>
            <a:ext cx="1679584" cy="1855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5345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FCC84E5-0F15-3C2B-7649-E86FD83CC017}"/>
              </a:ext>
            </a:extLst>
          </p:cNvPr>
          <p:cNvSpPr/>
          <p:nvPr/>
        </p:nvSpPr>
        <p:spPr>
          <a:xfrm>
            <a:off x="291830" y="184826"/>
            <a:ext cx="11439728" cy="61647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324CF3-5ED9-3030-5FF5-EC51D4846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Какво е квантовата физика?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0D726-AA71-58E0-CA0F-1639E8929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Квaнтовaта физика е клон на науката. Тя изучава много малки частици. Такива частици са атоми и фотони. Те се държат по необичайни начини.Квантовата физика се нарича още квантова механика. </a:t>
            </a:r>
          </a:p>
          <a:p>
            <a:r>
              <a:rPr lang="ru-RU" dirty="0"/>
              <a:t>Тя обяснява как работят най-малките части на Вселената. Всичко около нас е изградено от протони, неутрони и електрони.В квантовата физика частиците могат да се държат като частици и като вълни. Светлината е пример за това. Това се нарича вълново-частичен дуализъм.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395092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8C6D20-5AC7-2572-0381-A2A2B29CC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/>
              <a:t>Принципи на квантовата физика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4E0DB2C8-3DE1-F812-DBE5-799AF0EABC60}"/>
              </a:ext>
            </a:extLst>
          </p:cNvPr>
          <p:cNvSpPr/>
          <p:nvPr/>
        </p:nvSpPr>
        <p:spPr>
          <a:xfrm>
            <a:off x="5235102" y="1838528"/>
            <a:ext cx="1721796" cy="4124527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2144388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2E954EF-7065-4FA5-A9E3-37E4BCE80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1. Квантуване на енергията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DD0C73B-CDCC-C8A7-0346-F063431A7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>
                <a:solidFill>
                  <a:schemeClr val="tx1"/>
                </a:solidFill>
              </a:rPr>
              <a:t>Учен:</a:t>
            </a:r>
            <a:r>
              <a:rPr lang="ru-RU" dirty="0">
                <a:solidFill>
                  <a:schemeClr val="tx1"/>
                </a:solidFill>
              </a:rPr>
              <a:t> Макс Планк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b="1" dirty="0">
                <a:solidFill>
                  <a:schemeClr val="tx1"/>
                </a:solidFill>
              </a:rPr>
              <a:t>Година:</a:t>
            </a:r>
            <a:r>
              <a:rPr lang="ru-RU" dirty="0">
                <a:solidFill>
                  <a:schemeClr val="tx1"/>
                </a:solidFill>
              </a:rPr>
              <a:t> 1900 г.</a:t>
            </a:r>
            <a:endParaRPr lang="bg-B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722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F89B0-5DBC-6758-A359-1DBDA59512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573514"/>
            <a:ext cx="5181600" cy="5710971"/>
          </a:xfrm>
        </p:spPr>
        <p:txBody>
          <a:bodyPr>
            <a:normAutofit fontScale="92500" lnSpcReduction="10000"/>
          </a:bodyPr>
          <a:lstStyle/>
          <a:p>
            <a:r>
              <a:rPr lang="ru-RU" sz="2400" b="1" dirty="0"/>
              <a:t>Теория</a:t>
            </a:r>
            <a:r>
              <a:rPr lang="en-US" sz="2400" b="1" dirty="0"/>
              <a:t>:</a:t>
            </a:r>
            <a:endParaRPr lang="ru-RU" sz="2400" b="1" dirty="0"/>
          </a:p>
          <a:p>
            <a:pPr marL="0" indent="0">
              <a:buNone/>
            </a:pPr>
            <a:r>
              <a:rPr lang="ru-RU" sz="2400" dirty="0"/>
              <a:t>Планк открива, че енергията </a:t>
            </a:r>
            <a:r>
              <a:rPr lang="ru-RU" sz="2400" b="1" dirty="0"/>
              <a:t>не се излъчва и поглъща непрекъснато</a:t>
            </a:r>
            <a:r>
              <a:rPr lang="ru-RU" sz="2400" dirty="0"/>
              <a:t>, а на </a:t>
            </a:r>
            <a:r>
              <a:rPr lang="ru-RU" sz="2400" b="1" dirty="0"/>
              <a:t>малки порции</a:t>
            </a:r>
            <a:r>
              <a:rPr lang="ru-RU" sz="2400" dirty="0"/>
              <a:t>, наречени </a:t>
            </a:r>
            <a:r>
              <a:rPr lang="ru-RU" sz="2400" b="1" dirty="0"/>
              <a:t>кванти</a:t>
            </a:r>
            <a:r>
              <a:rPr lang="ru-RU" sz="2400" dirty="0"/>
              <a:t>. Това е коренно различно от класическата физика, която приема, че енергията може да има всякакви стойности.</a:t>
            </a:r>
          </a:p>
          <a:p>
            <a:r>
              <a:rPr lang="ru-RU" sz="2400" dirty="0"/>
              <a:t>Той въвежда формулата:</a:t>
            </a:r>
            <a:br>
              <a:rPr lang="ru-RU" sz="2400" dirty="0"/>
            </a:br>
            <a:r>
              <a:rPr lang="ru-RU" sz="2400" b="1" dirty="0"/>
              <a:t>E = h · f</a:t>
            </a:r>
            <a:r>
              <a:rPr lang="ru-RU" sz="2400" dirty="0"/>
              <a:t>,</a:t>
            </a:r>
            <a:br>
              <a:rPr lang="ru-RU" sz="2400" dirty="0"/>
            </a:br>
            <a:r>
              <a:rPr lang="ru-RU" sz="2400" dirty="0"/>
              <a:t>където </a:t>
            </a:r>
            <a:r>
              <a:rPr lang="ru-RU" sz="2400" i="1" dirty="0"/>
              <a:t>h</a:t>
            </a:r>
            <a:r>
              <a:rPr lang="ru-RU" sz="2400" dirty="0"/>
              <a:t> е константата на Планк, а </a:t>
            </a:r>
            <a:r>
              <a:rPr lang="ru-RU" sz="2400" i="1" dirty="0"/>
              <a:t>f</a:t>
            </a:r>
            <a:r>
              <a:rPr lang="ru-RU" sz="2400" dirty="0"/>
              <a:t> – честотата.</a:t>
            </a:r>
          </a:p>
          <a:p>
            <a:r>
              <a:rPr lang="ru-RU" sz="2400" b="1" dirty="0"/>
              <a:t>Пример</a:t>
            </a:r>
            <a:r>
              <a:rPr lang="en-US" sz="2400" b="1" dirty="0"/>
              <a:t>:</a:t>
            </a:r>
            <a:endParaRPr lang="ru-RU" sz="2400" b="1" dirty="0"/>
          </a:p>
          <a:p>
            <a:pPr marL="0" indent="0">
              <a:buNone/>
            </a:pPr>
            <a:r>
              <a:rPr lang="ru-RU" sz="2400" dirty="0"/>
              <a:t>Представи си стълбище. Можеш да стъпиш </a:t>
            </a:r>
            <a:r>
              <a:rPr lang="ru-RU" sz="2400" b="1" dirty="0"/>
              <a:t>само на стъпалата</a:t>
            </a:r>
            <a:r>
              <a:rPr lang="ru-RU" sz="2400" dirty="0"/>
              <a:t>, а не между тях.</a:t>
            </a:r>
            <a:br>
              <a:rPr lang="ru-RU" sz="2400" dirty="0"/>
            </a:br>
            <a:r>
              <a:rPr lang="ru-RU" sz="2400" dirty="0"/>
              <a:t>По същия начин електронът може да има </a:t>
            </a:r>
            <a:r>
              <a:rPr lang="ru-RU" sz="2400" b="1" dirty="0"/>
              <a:t>само определени енергийни нива</a:t>
            </a:r>
            <a:r>
              <a:rPr lang="ru-RU" sz="2400" dirty="0"/>
              <a:t>, а не произволни.</a:t>
            </a:r>
          </a:p>
          <a:p>
            <a:pPr marL="0" indent="0">
              <a:buNone/>
            </a:pPr>
            <a:endParaRPr lang="bg-BG" sz="2400" dirty="0"/>
          </a:p>
        </p:txBody>
      </p:sp>
      <p:pic>
        <p:nvPicPr>
          <p:cNvPr id="1026" name="Picture 2" descr="На тази дата Нилс Бор завършва статията си, която полага началото на  квантовата теория | Физика">
            <a:extLst>
              <a:ext uri="{FF2B5EF4-FFF2-40B4-BE49-F238E27FC236}">
                <a16:creationId xmlns:a16="http://schemas.microsoft.com/office/drawing/2014/main" id="{D8DD4041-EB15-985B-7DCF-F169787F110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3" y="1579317"/>
            <a:ext cx="5802923" cy="3699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9770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7A977-7A78-7A44-95EB-1A2200F38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2. Фотоелектричен ефект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92E58-5435-3189-8A0E-71EFE7619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>
                <a:solidFill>
                  <a:schemeClr val="tx1"/>
                </a:solidFill>
              </a:rPr>
              <a:t>Учен:</a:t>
            </a:r>
            <a:r>
              <a:rPr lang="ru-RU" dirty="0">
                <a:solidFill>
                  <a:schemeClr val="tx1"/>
                </a:solidFill>
              </a:rPr>
              <a:t> Алберт Айнщайн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b="1" dirty="0">
                <a:solidFill>
                  <a:schemeClr val="tx1"/>
                </a:solidFill>
              </a:rPr>
              <a:t>Година:</a:t>
            </a:r>
            <a:r>
              <a:rPr lang="ru-RU" dirty="0">
                <a:solidFill>
                  <a:schemeClr val="tx1"/>
                </a:solidFill>
              </a:rPr>
              <a:t> 1905 г.</a:t>
            </a:r>
            <a:endParaRPr lang="bg-B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000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E4720-B159-4A93-1543-C7B9F4E4FF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574200"/>
            <a:ext cx="5181600" cy="5709600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Теория:</a:t>
            </a:r>
          </a:p>
          <a:p>
            <a:pPr marL="0" indent="0">
              <a:buNone/>
            </a:pPr>
            <a:r>
              <a:rPr lang="ru-RU" dirty="0"/>
              <a:t>Айнщайн доказва, че светлината се държи като поток от частици – </a:t>
            </a:r>
            <a:r>
              <a:rPr lang="ru-RU" b="1" dirty="0"/>
              <a:t>фотони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Когато светлина с достатъчно висока честота падне върху метал, тя може да </a:t>
            </a:r>
            <a:r>
              <a:rPr lang="ru-RU" b="1" dirty="0"/>
              <a:t>избие електрони</a:t>
            </a:r>
            <a:r>
              <a:rPr lang="ru-RU" dirty="0"/>
              <a:t> от него.</a:t>
            </a:r>
          </a:p>
          <a:p>
            <a:r>
              <a:rPr lang="ru-RU" dirty="0"/>
              <a:t>Важно е, че не силата (яркостта), а </a:t>
            </a:r>
            <a:r>
              <a:rPr lang="ru-RU" b="1" dirty="0"/>
              <a:t>честотата</a:t>
            </a:r>
            <a:r>
              <a:rPr lang="ru-RU" dirty="0"/>
              <a:t> на светлината определя дали ще се отделят електрони.</a:t>
            </a:r>
          </a:p>
          <a:p>
            <a:r>
              <a:rPr lang="ru-RU" b="1" dirty="0"/>
              <a:t>Пример</a:t>
            </a:r>
          </a:p>
          <a:p>
            <a:pPr marL="0" indent="0">
              <a:buNone/>
            </a:pPr>
            <a:r>
              <a:rPr lang="ru-RU" dirty="0"/>
              <a:t>Слаба </a:t>
            </a:r>
            <a:r>
              <a:rPr lang="ru-RU" b="1" dirty="0"/>
              <a:t>ултравиолетова светлина</a:t>
            </a:r>
            <a:r>
              <a:rPr lang="ru-RU" dirty="0"/>
              <a:t> може да избие електрон,</a:t>
            </a:r>
            <a:br>
              <a:rPr lang="ru-RU" dirty="0"/>
            </a:br>
            <a:r>
              <a:rPr lang="ru-RU" dirty="0"/>
              <a:t>но много силна </a:t>
            </a:r>
            <a:r>
              <a:rPr lang="ru-RU" b="1" dirty="0"/>
              <a:t>червена светлина</a:t>
            </a:r>
            <a:r>
              <a:rPr lang="ru-RU" dirty="0"/>
              <a:t> – не може.</a:t>
            </a:r>
          </a:p>
          <a:p>
            <a:endParaRPr lang="bg-BG" dirty="0"/>
          </a:p>
        </p:txBody>
      </p:sp>
      <p:pic>
        <p:nvPicPr>
          <p:cNvPr id="2050" name="Picture 2" descr="Фотоелектричен ефект | physicstime.com">
            <a:extLst>
              <a:ext uri="{FF2B5EF4-FFF2-40B4-BE49-F238E27FC236}">
                <a16:creationId xmlns:a16="http://schemas.microsoft.com/office/drawing/2014/main" id="{E1212FA1-830C-FF50-4272-1E642FAB67B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990" y="1872945"/>
            <a:ext cx="4329136" cy="3112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1399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3FF02-E56F-78D3-89E9-FD6E96671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3. Вълново-частичен дуализъм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B35BF-ADC5-AEB8-E910-FCDC81FC8A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>
                <a:solidFill>
                  <a:schemeClr val="tx1"/>
                </a:solidFill>
              </a:rPr>
              <a:t>Учен:</a:t>
            </a:r>
            <a:r>
              <a:rPr lang="ru-RU" dirty="0">
                <a:solidFill>
                  <a:schemeClr val="tx1"/>
                </a:solidFill>
              </a:rPr>
              <a:t> Луи дьо Бройл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b="1" dirty="0">
                <a:solidFill>
                  <a:schemeClr val="tx1"/>
                </a:solidFill>
              </a:rPr>
              <a:t>Година:</a:t>
            </a:r>
            <a:r>
              <a:rPr lang="ru-RU" dirty="0">
                <a:solidFill>
                  <a:schemeClr val="tx1"/>
                </a:solidFill>
              </a:rPr>
              <a:t> 1924 г.</a:t>
            </a:r>
            <a:endParaRPr lang="bg-B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36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61C5A-9A95-939A-E8AC-78F55B4A43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574200"/>
            <a:ext cx="5181600" cy="5709600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Теория:</a:t>
            </a:r>
          </a:p>
          <a:p>
            <a:pPr marL="0" indent="0">
              <a:buNone/>
            </a:pPr>
            <a:r>
              <a:rPr lang="ru-RU" dirty="0"/>
              <a:t>Дьо Бройл предлага, че </a:t>
            </a:r>
            <a:r>
              <a:rPr lang="ru-RU" b="1" dirty="0"/>
              <a:t>всяка частица</a:t>
            </a:r>
            <a:r>
              <a:rPr lang="ru-RU" dirty="0"/>
              <a:t> (електрон, протон) има и </a:t>
            </a:r>
            <a:r>
              <a:rPr lang="ru-RU" b="1" dirty="0"/>
              <a:t>вълнови свойства</a:t>
            </a:r>
            <a:r>
              <a:rPr lang="ru-RU" dirty="0"/>
              <a:t>, а не само маса и скорост.</a:t>
            </a:r>
            <a:br>
              <a:rPr lang="ru-RU" dirty="0"/>
            </a:br>
            <a:r>
              <a:rPr lang="ru-RU" dirty="0"/>
              <a:t>Това означава, че материята може да се държи </a:t>
            </a:r>
            <a:r>
              <a:rPr lang="ru-RU" b="1" dirty="0"/>
              <a:t>едновременно като частица и като вълна</a:t>
            </a:r>
            <a:r>
              <a:rPr lang="ru-RU" dirty="0"/>
              <a:t>.</a:t>
            </a:r>
          </a:p>
          <a:p>
            <a:r>
              <a:rPr lang="ru-RU" b="1" dirty="0"/>
              <a:t>Пример</a:t>
            </a:r>
          </a:p>
          <a:p>
            <a:r>
              <a:rPr lang="ru-RU" dirty="0"/>
              <a:t>Електрон: се засича като </a:t>
            </a:r>
            <a:r>
              <a:rPr lang="ru-RU" b="1" dirty="0"/>
              <a:t>точка</a:t>
            </a:r>
            <a:r>
              <a:rPr lang="ru-RU" dirty="0"/>
              <a:t> (частица), но създава </a:t>
            </a:r>
            <a:r>
              <a:rPr lang="ru-RU" b="1" dirty="0"/>
              <a:t>интерференчна картина</a:t>
            </a:r>
            <a:r>
              <a:rPr lang="ru-RU" dirty="0"/>
              <a:t> като вълна.</a:t>
            </a:r>
          </a:p>
        </p:txBody>
      </p:sp>
      <p:pic>
        <p:nvPicPr>
          <p:cNvPr id="3074" name="Picture 2" descr="Дуализъм">
            <a:extLst>
              <a:ext uri="{FF2B5EF4-FFF2-40B4-BE49-F238E27FC236}">
                <a16:creationId xmlns:a16="http://schemas.microsoft.com/office/drawing/2014/main" id="{1D608B49-6871-4513-19F0-0B5C2AD519C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7179" y="2195146"/>
            <a:ext cx="51816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3266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EE0FB-D125-BCFF-6C90-3AE1B3280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4. Принцип на неопределеността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E4A1C-114F-0AAE-3B50-CC1E21603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Учен: Вернер Хайзенберг</a:t>
            </a:r>
          </a:p>
          <a:p>
            <a:r>
              <a:rPr lang="ru-RU" dirty="0">
                <a:solidFill>
                  <a:schemeClr val="tx1"/>
                </a:solidFill>
              </a:rPr>
              <a:t>Година: 1927 г.</a:t>
            </a:r>
            <a:endParaRPr lang="bg-B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944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1D5C1-4AC8-2066-CD39-0C07ABFAD5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574200"/>
            <a:ext cx="5181600" cy="5709600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Теория:</a:t>
            </a:r>
          </a:p>
          <a:p>
            <a:endParaRPr lang="ru-RU" dirty="0"/>
          </a:p>
          <a:p>
            <a:r>
              <a:rPr lang="ru-RU" dirty="0"/>
              <a:t>Невъзможно е едновременно да се знаят точната позиция и точната скорост на една квантова частица.</a:t>
            </a:r>
          </a:p>
          <a:p>
            <a:r>
              <a:rPr lang="ru-RU" dirty="0"/>
              <a:t>Колкото по-точно знаем едното, толкова по-неточно знаем другото.</a:t>
            </a:r>
          </a:p>
          <a:p>
            <a:endParaRPr lang="ru-RU" dirty="0"/>
          </a:p>
          <a:p>
            <a:r>
              <a:rPr lang="ru-RU" dirty="0"/>
              <a:t>Това не е грешка на измерването, а фундаментално свойство на природата.</a:t>
            </a:r>
          </a:p>
          <a:p>
            <a:endParaRPr lang="ru-RU" dirty="0"/>
          </a:p>
          <a:p>
            <a:r>
              <a:rPr lang="ru-RU" dirty="0"/>
              <a:t>Пример:</a:t>
            </a:r>
          </a:p>
          <a:p>
            <a:endParaRPr lang="ru-RU" dirty="0"/>
          </a:p>
          <a:p>
            <a:r>
              <a:rPr lang="ru-RU" dirty="0"/>
              <a:t>Все едно да се опитваш да видиш кола в пълна тъмнина, като я осветиш с фенер – самата светлина я избутва леко и променя движението ѝ.</a:t>
            </a:r>
          </a:p>
          <a:p>
            <a:endParaRPr lang="bg-BG" dirty="0"/>
          </a:p>
        </p:txBody>
      </p:sp>
      <p:pic>
        <p:nvPicPr>
          <p:cNvPr id="4098" name="Picture 2" descr="Вернер Хайзенберг и принципа на неопределеността | Teenproblem.net">
            <a:extLst>
              <a:ext uri="{FF2B5EF4-FFF2-40B4-BE49-F238E27FC236}">
                <a16:creationId xmlns:a16="http://schemas.microsoft.com/office/drawing/2014/main" id="{FFCDC42F-040B-3B3F-DF31-AE24EF1E25F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062" y="309542"/>
            <a:ext cx="5181600" cy="3337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Принцип на неопределеността - Читател - живей в по-добрия свят!">
            <a:extLst>
              <a:ext uri="{FF2B5EF4-FFF2-40B4-BE49-F238E27FC236}">
                <a16:creationId xmlns:a16="http://schemas.microsoft.com/office/drawing/2014/main" id="{BF67B9AF-6208-F6BA-78D6-FCEA899A6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062" y="3690958"/>
            <a:ext cx="51816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1076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D1CF3-C268-9311-4720-A0DD969DA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5. Квантова суперпозиция</a:t>
            </a:r>
            <a:r>
              <a:rPr lang="ru-RU" dirty="0"/>
              <a:t> </a:t>
            </a:r>
            <a:endParaRPr lang="bg-B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ED7C26-FA37-B71C-1329-63698DFAE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Учен: Ервин Шрьодингер</a:t>
            </a:r>
          </a:p>
          <a:p>
            <a:r>
              <a:rPr lang="ru-RU" dirty="0">
                <a:solidFill>
                  <a:schemeClr val="tx1"/>
                </a:solidFill>
              </a:rPr>
              <a:t>Година: 1926 г.</a:t>
            </a:r>
            <a:endParaRPr lang="bg-B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512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CA98F-6F62-02FA-2E89-991AEE8E92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574200"/>
            <a:ext cx="5181600" cy="5709600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Теория:</a:t>
            </a:r>
          </a:p>
          <a:p>
            <a:endParaRPr lang="ru-RU" dirty="0"/>
          </a:p>
          <a:p>
            <a:r>
              <a:rPr lang="ru-RU" dirty="0"/>
              <a:t>Квантовата частица може да съществува в няколко състояния едновременно, докато не бъде измерена.</a:t>
            </a:r>
          </a:p>
          <a:p>
            <a:r>
              <a:rPr lang="ru-RU" dirty="0"/>
              <a:t>Състоянието ѝ се описва с вълнова функция, която показва вероятности.</a:t>
            </a:r>
          </a:p>
          <a:p>
            <a:endParaRPr lang="ru-RU" dirty="0"/>
          </a:p>
          <a:p>
            <a:r>
              <a:rPr lang="ru-RU" dirty="0"/>
              <a:t>Пример:</a:t>
            </a:r>
          </a:p>
          <a:p>
            <a:endParaRPr lang="ru-RU" dirty="0"/>
          </a:p>
          <a:p>
            <a:r>
              <a:rPr lang="ru-RU" dirty="0"/>
              <a:t>Електрон може да бъде:и тук, и там, едновременно, докато не го измерим.</a:t>
            </a:r>
          </a:p>
          <a:p>
            <a:endParaRPr lang="ru-RU" dirty="0"/>
          </a:p>
          <a:p>
            <a:r>
              <a:rPr lang="ru-RU" dirty="0"/>
              <a:t>Известен пример е мисловният експеримент с котката на Шрьодингер – жива и мъртва едновременно.</a:t>
            </a:r>
            <a:endParaRPr lang="bg-BG" dirty="0"/>
          </a:p>
        </p:txBody>
      </p:sp>
      <p:pic>
        <p:nvPicPr>
          <p:cNvPr id="5122" name="Picture 2" descr="Парадоксите на квантовата механика смущават съня на физиците | Мегавселена">
            <a:extLst>
              <a:ext uri="{FF2B5EF4-FFF2-40B4-BE49-F238E27FC236}">
                <a16:creationId xmlns:a16="http://schemas.microsoft.com/office/drawing/2014/main" id="{17FDDF77-6EB0-9534-252B-B28B4051368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052903"/>
            <a:ext cx="5181600" cy="2752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0781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44B29-8145-CCDC-44D3-36117082E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6. Колапс на вълновата функция</a:t>
            </a:r>
            <a:endParaRPr lang="bg-B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A180C-058D-4E7D-186A-F4B3C0492A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Учен: Нилс Бор (Копенхагенска интерпретация)</a:t>
            </a:r>
          </a:p>
          <a:p>
            <a:r>
              <a:rPr lang="ru-RU" dirty="0">
                <a:solidFill>
                  <a:schemeClr val="tx1"/>
                </a:solidFill>
              </a:rPr>
              <a:t>Година: около 1927 г.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353571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22B42-2D6F-F376-66FE-152B4391A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574200"/>
            <a:ext cx="5181600" cy="5709600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Теория:</a:t>
            </a:r>
          </a:p>
          <a:p>
            <a:endParaRPr lang="ru-RU" dirty="0"/>
          </a:p>
          <a:p>
            <a:r>
              <a:rPr lang="ru-RU" dirty="0"/>
              <a:t>Когато извършим измерване, суперпозицията изчезва и частицата избира едно конкретно състояние.</a:t>
            </a:r>
          </a:p>
          <a:p>
            <a:r>
              <a:rPr lang="ru-RU" dirty="0"/>
              <a:t>Този процес се нарича колапс на вълновата функция.</a:t>
            </a:r>
          </a:p>
          <a:p>
            <a:endParaRPr lang="ru-RU" dirty="0"/>
          </a:p>
          <a:p>
            <a:r>
              <a:rPr lang="ru-RU" dirty="0"/>
              <a:t>Пример:</a:t>
            </a:r>
          </a:p>
          <a:p>
            <a:pPr marL="0" indent="0">
              <a:buNone/>
            </a:pPr>
            <a:r>
              <a:rPr lang="ru-RU" dirty="0"/>
              <a:t>Преди измерване:</a:t>
            </a:r>
          </a:p>
          <a:p>
            <a:pPr marL="0" indent="0">
              <a:buNone/>
            </a:pPr>
            <a:r>
              <a:rPr lang="ru-RU" dirty="0"/>
              <a:t>електронът е на много възможни места.</a:t>
            </a:r>
          </a:p>
          <a:p>
            <a:pPr marL="0" indent="0">
              <a:buNone/>
            </a:pPr>
            <a:r>
              <a:rPr lang="ru-RU" dirty="0"/>
              <a:t>След измерване:</a:t>
            </a:r>
          </a:p>
          <a:p>
            <a:pPr marL="0" indent="0">
              <a:buNone/>
            </a:pPr>
            <a:r>
              <a:rPr lang="ru-RU" dirty="0"/>
              <a:t>намираме го на едно конкретно място.</a:t>
            </a:r>
            <a:endParaRPr lang="bg-BG" dirty="0"/>
          </a:p>
        </p:txBody>
      </p:sp>
      <p:pic>
        <p:nvPicPr>
          <p:cNvPr id="6146" name="Picture 2" descr="колапс на вълновата функция">
            <a:extLst>
              <a:ext uri="{FF2B5EF4-FFF2-40B4-BE49-F238E27FC236}">
                <a16:creationId xmlns:a16="http://schemas.microsoft.com/office/drawing/2014/main" id="{F814A5B1-E8E1-6006-04E2-265AB74CE1B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830027"/>
            <a:ext cx="5181600" cy="3197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4375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611</Words>
  <Application>Microsoft Office PowerPoint</Application>
  <PresentationFormat>Widescreen</PresentationFormat>
  <Paragraphs>65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Основни принципи на квантовата физика</vt:lpstr>
      <vt:lpstr>Какво е квантовата физика?</vt:lpstr>
      <vt:lpstr>Принципи на квантовата физика</vt:lpstr>
      <vt:lpstr>1. Квантуване на енергията</vt:lpstr>
      <vt:lpstr>PowerPoint Presentation</vt:lpstr>
      <vt:lpstr>2. Фотоелектричен ефект</vt:lpstr>
      <vt:lpstr>PowerPoint Presentation</vt:lpstr>
      <vt:lpstr>3. Вълново-частичен дуализъм</vt:lpstr>
      <vt:lpstr>PowerPoint Presentation</vt:lpstr>
      <vt:lpstr>4. Принцип на неопределеността</vt:lpstr>
      <vt:lpstr>PowerPoint Presentation</vt:lpstr>
      <vt:lpstr>5. Квантова суперпозиция </vt:lpstr>
      <vt:lpstr>PowerPoint Presentation</vt:lpstr>
      <vt:lpstr>6. Колапс на вълновата функция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Velev</dc:creator>
  <cp:lastModifiedBy>Martin Velev</cp:lastModifiedBy>
  <cp:revision>12</cp:revision>
  <dcterms:created xsi:type="dcterms:W3CDTF">2026-01-20T14:26:01Z</dcterms:created>
  <dcterms:modified xsi:type="dcterms:W3CDTF">2026-01-20T20:24:01Z</dcterms:modified>
</cp:coreProperties>
</file>